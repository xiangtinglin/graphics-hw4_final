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56" r:id="rId22"/>
  </p:sldIdLst>
  <p:sldSz cx="12192000" cy="6858000"/>
  <p:notesSz cx="6858000" cy="9144000"/>
  <p:embeddedFontLst>
    <p:embeddedFont>
      <p:font typeface="Roboto Mono" pitchFamily="49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ZxNsm8oa7INxHNparW83c3yegu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林湘婷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2C2F1EF-C6B2-4788-BCC3-3FE57DCEA221}">
  <a:tblStyle styleId="{52C2F1EF-C6B2-4788-BCC3-3FE57DCEA2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5"/>
    <p:restoredTop sz="94629"/>
  </p:normalViewPr>
  <p:slideViewPr>
    <p:cSldViewPr snapToGrid="0">
      <p:cViewPr varScale="1">
        <p:scale>
          <a:sx n="91" d="100"/>
          <a:sy n="91" d="100"/>
        </p:scale>
        <p:origin x="192" y="4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customschemas.google.com/relationships/presentationmetadata" Target="meta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2-15T14:28:58.423" idx="1">
    <p:pos x="2774" y="2420"/>
    <p:text>報告著重的parts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wUmValA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2-14T17:15:33.603" idx="3">
    <p:pos x="3475" y="277"/>
    <p:text># 增加 5000 個隱形三角形(位置在鏡頭後)：
拖慢 Linear又能維持鏡頭前的畫面不變。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xhvWiU0"/>
      </p:ext>
    </p:extLst>
  </p:cm>
  <p:cm authorId="0" dt="2025-12-14T17:19:19.077" idx="2">
    <p:pos x="4409" y="1993"/>
    <p:text># 紅/黃色噪點原因：
過程中我一度有改「隨機生成器」+ 為了加速compile改用指令衍生的「數值精度計算問題」。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xhvWiVI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3" name="Google Shape;4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60" name="Google Shape;6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72" name="Google Shape;7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100"/>
              <a:t>[Status：done ☑️]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翻譯：</a:t>
            </a:r>
            <a:br>
              <a:rPr lang="en-US"/>
            </a:br>
            <a:r>
              <a:rPr lang="en-US"/>
              <a:t>       </a:t>
            </a:r>
            <a:r>
              <a:rPr lang="en-US" sz="1100"/>
              <a:t>在電腦圖學領域中，光線追蹤 (Ray Tracing) 是生成相片級真實影像的黃金標準。然而，它面臨兩大挑戰：</a:t>
            </a:r>
            <a:r>
              <a:rPr lang="en-US" sz="1100" b="1"/>
              <a:t>運算成本</a:t>
            </a:r>
            <a:r>
              <a:rPr lang="en-US" sz="1100"/>
              <a:t>（來自大量的交點測試）以及</a:t>
            </a:r>
            <a:r>
              <a:rPr lang="en-US" sz="1100" b="1"/>
              <a:t>渲染雜訊</a:t>
            </a:r>
            <a:r>
              <a:rPr lang="en-US" sz="1100"/>
              <a:t>（來自低效率的採樣）。 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100"/>
              <a:t>        專題的動機即為同時解決這兩大難題。我的目標是實作一個穩健的光線追蹤器，不僅能物理地模擬光影傳輸，還能保持高效能。透過整合 </a:t>
            </a:r>
            <a:r>
              <a:rPr lang="en-US" sz="1100" b="1"/>
              <a:t>BVH (Bounding Volume Hierarchies)</a:t>
            </a:r>
            <a:r>
              <a:rPr lang="en-US" sz="1100"/>
              <a:t>，我解決了效能瓶頸；透過實作 </a:t>
            </a:r>
            <a:r>
              <a:rPr lang="en-US" sz="1100" b="1"/>
              <a:t>多重重要性採樣 (MIS)</a:t>
            </a:r>
            <a:r>
              <a:rPr lang="en-US" sz="1100"/>
              <a:t>，結合了光源採樣 (Light Sampling) 與材質採樣 (BSDF Sampling)，顯著降低了雜訊並有效處理了漫反射與光澤材質。</a:t>
            </a:r>
            <a:endParaRPr/>
          </a:p>
        </p:txBody>
      </p:sp>
      <p:sp>
        <p:nvSpPr>
          <p:cNvPr id="102" name="Google Shape;10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3f242b683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a3f242b683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[Status：done ☑️]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1100" b="1"/>
            </a:br>
            <a:r>
              <a:rPr lang="en-US" sz="1100" b="1"/>
              <a:t>The Script (劇本): </a:t>
            </a:r>
            <a:r>
              <a:rPr lang="en-US" sz="11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input.txt</a:t>
            </a:r>
            <a:endParaRPr sz="11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Role:</a:t>
            </a:r>
            <a:r>
              <a:rPr lang="en-US" sz="1100"/>
              <a:t> Defines the "plot" — camera position, objects (spheres, triangles), lights, and materials.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Evidence:</a:t>
            </a:r>
            <a:r>
              <a:rPr lang="en-US" sz="1100"/>
              <a:t> Parsed by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load_scene_from_file</a:t>
            </a:r>
            <a:r>
              <a:rPr lang="en-US" sz="1100"/>
              <a:t> in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AdvCG_Final_MIS.cc</a:t>
            </a:r>
            <a:r>
              <a:rPr lang="en-US" sz="1100"/>
              <a:t>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角色：</a:t>
            </a:r>
            <a:r>
              <a:rPr lang="en-US" sz="1100"/>
              <a:t> 定義「劇情」— 相機位置、場景物體（球體、三角形）、光源以及材質參數。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依據：</a:t>
            </a:r>
            <a:r>
              <a:rPr lang="en-US" sz="1100"/>
              <a:t> 由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AdvCG_Final_MIS.cc</a:t>
            </a:r>
            <a:r>
              <a:rPr lang="en-US" sz="1100"/>
              <a:t> 中的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load_scene_from_file</a:t>
            </a:r>
            <a:r>
              <a:rPr lang="en-US" sz="1100"/>
              <a:t> 函式負責解析。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/>
              <a:t>The Director (導演): </a:t>
            </a:r>
            <a:r>
              <a:rPr lang="en-US" sz="11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AdvCG_Final_MIS.cc</a:t>
            </a:r>
            <a:endParaRPr sz="11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Role:</a:t>
            </a:r>
            <a:r>
              <a:rPr lang="en-US" sz="1100"/>
              <a:t> Coordinates the entire production. It loads the scene, sets up the camera, and shouts "Action!" (calls render functions) for different passes (Light, BSDF, MIS).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Evidence:</a:t>
            </a:r>
            <a:r>
              <a:rPr lang="en-US" sz="1100"/>
              <a:t> Contains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main()</a:t>
            </a:r>
            <a:r>
              <a:rPr lang="en-US" sz="1100"/>
              <a:t>,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render_image()</a:t>
            </a:r>
            <a:r>
              <a:rPr lang="en-US" sz="1100"/>
              <a:t>, and calls specific modes like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MODE_MIS</a:t>
            </a:r>
            <a:r>
              <a:rPr lang="en-US" sz="1100"/>
              <a:t>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角色：</a:t>
            </a:r>
            <a:r>
              <a:rPr lang="en-US" sz="1100"/>
              <a:t> 統籌整個製作。負責載入場景、架設相機，並針對不同模式（光源、BSDF、MIS）喊「開拍」（呼叫渲染函式）。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依據：</a:t>
            </a:r>
            <a:r>
              <a:rPr lang="en-US" sz="1100"/>
              <a:t> 包含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main()</a:t>
            </a:r>
            <a:r>
              <a:rPr lang="en-US" sz="1100"/>
              <a:t> 入口點、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render_image()</a:t>
            </a:r>
            <a:r>
              <a:rPr lang="en-US" sz="1100"/>
              <a:t> 迴圈，並呼叫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MODE_MIS</a:t>
            </a:r>
            <a:r>
              <a:rPr lang="en-US" sz="1100"/>
              <a:t> 等模式。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/>
              <a:t>The Stage Manager (場務/道具管理): </a:t>
            </a:r>
            <a:r>
              <a:rPr lang="en-US" sz="11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Speed_up.h</a:t>
            </a:r>
            <a:r>
              <a:rPr lang="en-US" sz="1100" b="1"/>
              <a:t> (BVH)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Role:</a:t>
            </a:r>
            <a:r>
              <a:rPr lang="en-US" sz="1100"/>
              <a:t> Organizes all props (triangles/spheres) into boxes so the camera rays don't waste time checking objects that aren't visible.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Evidence:</a:t>
            </a:r>
            <a:r>
              <a:rPr lang="en-US" sz="1100"/>
              <a:t> Defines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BVHNode</a:t>
            </a:r>
            <a:r>
              <a:rPr lang="en-US" sz="1100"/>
              <a:t>,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build_scene_bvh</a:t>
            </a:r>
            <a:r>
              <a:rPr lang="en-US" sz="1100"/>
              <a:t>, and the fast intersection logic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bvh_hit_node</a:t>
            </a:r>
            <a:r>
              <a:rPr lang="en-US" sz="1100"/>
              <a:t>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角色：</a:t>
            </a:r>
            <a:r>
              <a:rPr lang="en-US" sz="1100"/>
              <a:t> 將所有道具（三角形/球體）整理進箱子（BVH Nodes），讓光線不必浪費時間檢查看不見的物體。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依據：</a:t>
            </a:r>
            <a:r>
              <a:rPr lang="en-US" sz="1100"/>
              <a:t> 定義了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BVHNode</a:t>
            </a:r>
            <a:r>
              <a:rPr lang="en-US" sz="1100"/>
              <a:t> 結構、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build_scene_bvh</a:t>
            </a:r>
            <a:r>
              <a:rPr lang="en-US" sz="1100"/>
              <a:t> 建樹函式以及快速求交的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bvh_hit_node</a:t>
            </a:r>
            <a:r>
              <a:rPr lang="en-US" sz="1100"/>
              <a:t>。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/>
              <a:t>The Lighting Technician (燈光師): </a:t>
            </a:r>
            <a:r>
              <a:rPr lang="en-US" sz="11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tracer_light_source.h</a:t>
            </a:r>
            <a:endParaRPr sz="11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Role:</a:t>
            </a:r>
            <a:r>
              <a:rPr lang="en-US" sz="1100"/>
              <a:t> Knows exactly where the lights are and how to shine them directly onto surfaces (Direct Light Sampling).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Evidence:</a:t>
            </a:r>
            <a:r>
              <a:rPr lang="en-US" sz="1100"/>
              <a:t>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sample_sphere_light_from_point</a:t>
            </a:r>
            <a:r>
              <a:rPr lang="en-US" sz="1100"/>
              <a:t> calculates direction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</a:t>
            </a:r>
            <a:r>
              <a:rPr lang="en-US" sz="1100"/>
              <a:t> towards lights and the corresponding PDF.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角色：</a:t>
            </a:r>
            <a:r>
              <a:rPr lang="en-US" sz="1100"/>
              <a:t> 清楚光源在哪裡，負責直接將光打在物體表面上（直接光源採樣）。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依據：</a:t>
            </a:r>
            <a:r>
              <a:rPr lang="en-US" sz="1100"/>
              <a:t>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sample_sphere_light_from_point</a:t>
            </a:r>
            <a:r>
              <a:rPr lang="en-US" sz="1100"/>
              <a:t> 計算朝向光源的方向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</a:t>
            </a:r>
            <a:r>
              <a:rPr lang="en-US" sz="1100"/>
              <a:t> 以及對應的機率密度函數 (PDF)。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/>
              <a:t>The Art &amp; Material Dept (美術/材質組): </a:t>
            </a:r>
            <a:r>
              <a:rPr lang="en-US" sz="11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tracer_BSDF_sampling.h</a:t>
            </a:r>
            <a:endParaRPr sz="11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Role:</a:t>
            </a:r>
            <a:r>
              <a:rPr lang="en-US" sz="1100"/>
              <a:t> Determines how surfaces look and scatter light based on their material (Diffuseness or Shininess). It picks directions based on the surface properties.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Evidence:</a:t>
            </a:r>
            <a:r>
              <a:rPr lang="en-US" sz="1100"/>
              <a:t>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sample_brdf_direction</a:t>
            </a:r>
            <a:r>
              <a:rPr lang="en-US" sz="1100"/>
              <a:t> samples rays based on Lambert (Cosine) or Phong lobes.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角色：</a:t>
            </a:r>
            <a:r>
              <a:rPr lang="en-US" sz="1100"/>
              <a:t> 決定物體表面的質感以及光線如何散射（漫射或光澤）。它根據表面屬性來選擇光線反射方向。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依據：</a:t>
            </a:r>
            <a:r>
              <a:rPr lang="en-US" sz="1100"/>
              <a:t>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sample_brdf_direction</a:t>
            </a:r>
            <a:r>
              <a:rPr lang="en-US" sz="1100"/>
              <a:t> 基於 Lambert (Cosine) 或 Phong lobe 模型進行採樣。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/>
              <a:t>The Editor/Compositor (剪輯/後製合成): </a:t>
            </a:r>
            <a:r>
              <a:rPr lang="en-US" sz="11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tracer_MIS.h</a:t>
            </a:r>
            <a:endParaRPr sz="11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Role:</a:t>
            </a:r>
            <a:r>
              <a:rPr lang="en-US" sz="1100"/>
              <a:t> Takes the footage from the Lighting Technician and the Art Dept and blends them perfectly to get the best image quality using mathematical weights.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Evidence:</a:t>
            </a:r>
            <a:r>
              <a:rPr lang="en-US" sz="1100"/>
              <a:t>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evaluate_mis</a:t>
            </a:r>
            <a:r>
              <a:rPr lang="en-US" sz="1100"/>
              <a:t> and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balance_weight</a:t>
            </a:r>
            <a:r>
              <a:rPr lang="en-US" sz="1100"/>
              <a:t> combine the results using the balance heuristic.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角色：</a:t>
            </a:r>
            <a:r>
              <a:rPr lang="en-US" sz="1100"/>
              <a:t> 拿取燈光師與美術組的素材，利用數學權重將它們完美融合，以獲得最佳畫質。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依據：</a:t>
            </a:r>
            <a:r>
              <a:rPr lang="en-US" sz="1100"/>
              <a:t>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evaluate_mis</a:t>
            </a:r>
            <a:r>
              <a:rPr lang="en-US" sz="1100"/>
              <a:t> 與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balance_weight</a:t>
            </a:r>
            <a:r>
              <a:rPr lang="en-US" sz="1100"/>
              <a:t> 使用平衡啟發式 (Balance Heuristic) 結合兩者結果。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The Cinematographer (攝影指導): </a:t>
            </a:r>
            <a:r>
              <a:rPr lang="en-US" sz="11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tracer_camera.h</a:t>
            </a:r>
            <a:endParaRPr sz="11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 b="1"/>
              <a:t>Role:</a:t>
            </a:r>
            <a:r>
              <a:rPr lang="en-US" sz="1100"/>
              <a:t> Defines the "Lens" and "Perspective". It decides the field of view (FOV), aspect ratio, and how to shoot rays from the camera into the scene.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 b="1"/>
              <a:t>Evidence:</a:t>
            </a:r>
            <a:r>
              <a:rPr lang="en-US" sz="1100"/>
              <a:t>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setup_camera</a:t>
            </a:r>
            <a:r>
              <a:rPr lang="en-US" sz="1100"/>
              <a:t> calculates the viewport dimensions, and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get_camera_ray</a:t>
            </a:r>
            <a:r>
              <a:rPr lang="en-US" sz="1100"/>
              <a:t> generates the primary rays for each pixel.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 b="1"/>
              <a:t>角色：</a:t>
            </a:r>
            <a:r>
              <a:rPr lang="en-US" sz="1100"/>
              <a:t> 定義「鏡頭」與「視角」。負責決定視野 (FOV)、長寬比，以及如何從相機向場景發射光線。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 b="1"/>
              <a:t>依據：</a:t>
            </a:r>
            <a:r>
              <a:rPr lang="en-US" sz="1100"/>
              <a:t>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setup_camera</a:t>
            </a:r>
            <a:r>
              <a:rPr lang="en-US" sz="1100"/>
              <a:t> 計算視口尺寸，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get_camera_ray</a:t>
            </a:r>
            <a:r>
              <a:rPr lang="en-US" sz="1100"/>
              <a:t> 負責生成每個像素的主要光線。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The Set Physicist / Mathematician (物理/數學顧問): </a:t>
            </a:r>
            <a:r>
              <a:rPr lang="en-US" sz="11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vec3.h</a:t>
            </a:r>
            <a:endParaRPr sz="11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 b="1"/>
              <a:t>Role:</a:t>
            </a:r>
            <a:r>
              <a:rPr lang="en-US" sz="1100"/>
              <a:t> The fundamental language used by the crew. It defines how to measure distance, direction (vectors), and colors (RGB). Everything relies on these basic math operations.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 b="1"/>
              <a:t>Evidence:</a:t>
            </a:r>
            <a:r>
              <a:rPr lang="en-US" sz="1100"/>
              <a:t> Defines the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vec3</a:t>
            </a:r>
            <a:r>
              <a:rPr lang="en-US" sz="1100"/>
              <a:t> class and operations like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dot</a:t>
            </a:r>
            <a:r>
              <a:rPr lang="en-US" sz="1100"/>
              <a:t> (dot product),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cross</a:t>
            </a:r>
            <a:r>
              <a:rPr lang="en-US" sz="1100"/>
              <a:t> (cross product), and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unit_vector</a:t>
            </a:r>
            <a:r>
              <a:rPr lang="en-US" sz="1100"/>
              <a:t>.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 b="1"/>
              <a:t>角色：</a:t>
            </a:r>
            <a:r>
              <a:rPr lang="en-US" sz="1100"/>
              <a:t> 劇組溝通用的基礎語言。定義了如何測量距離、方向（向量）以及顏色 (RGB)。所有運算都依賴這些基礎數學操作。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 b="1"/>
              <a:t>依據：</a:t>
            </a:r>
            <a:r>
              <a:rPr lang="en-US" sz="1100"/>
              <a:t> 定義了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vec3</a:t>
            </a:r>
            <a:r>
              <a:rPr lang="en-US" sz="1100"/>
              <a:t> 類別以及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dot</a:t>
            </a:r>
            <a:r>
              <a:rPr lang="en-US" sz="1100"/>
              <a:t>（內積）、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cross</a:t>
            </a:r>
            <a:r>
              <a:rPr lang="en-US" sz="1100"/>
              <a:t>（外積）、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unit_vector</a:t>
            </a:r>
            <a:r>
              <a:rPr lang="en-US" sz="1100"/>
              <a:t>（單位向量）等運算。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The Performance Auditor (績效稽核員): </a:t>
            </a:r>
            <a:r>
              <a:rPr lang="en-US" sz="11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benchmark_bvh.py</a:t>
            </a:r>
            <a:endParaRPr sz="11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 b="1"/>
              <a:t>Role:</a:t>
            </a:r>
            <a:r>
              <a:rPr lang="en-US" sz="1100"/>
              <a:t> An external inspector who creates extreme stress tests (thousands of hidden objects) to verify if the "Stage Manager" (BVH) is actually doing their job efficiently.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 b="1"/>
              <a:t>Evidence:</a:t>
            </a:r>
            <a:r>
              <a:rPr lang="en-US" sz="1100"/>
              <a:t> It generates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input_stress.txt</a:t>
            </a:r>
            <a:r>
              <a:rPr lang="en-US" sz="1100"/>
              <a:t> with extra invisible triangles (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NUM_DUMMY_TRIS = 5000</a:t>
            </a:r>
            <a:r>
              <a:rPr lang="en-US" sz="1100"/>
              <a:t>) and compares the rendering time of Linear vs. BVH methods.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 b="1"/>
              <a:t>角色：</a:t>
            </a:r>
            <a:r>
              <a:rPr lang="en-US" sz="1100"/>
              <a:t> 外部稽核員。他創造極端的壓力測試（數千個隱藏物體），用來驗證「場務」（BVH）是否真的有效率地在工作。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 b="1"/>
              <a:t>依據：</a:t>
            </a:r>
            <a:r>
              <a:rPr lang="en-US" sz="1100"/>
              <a:t> 該腳本生成帶有額外隱形三角形 (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NUM_DUMMY_TRIS = 5000</a:t>
            </a:r>
            <a:r>
              <a:rPr lang="en-US" sz="1100"/>
              <a:t>) 的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input_stress.txt</a:t>
            </a:r>
            <a:r>
              <a:rPr lang="en-US" sz="1100"/>
              <a:t>，並比較線性與 BVH 方法的渲染時間。</a:t>
            </a:r>
            <a:endParaRPr/>
          </a:p>
        </p:txBody>
      </p:sp>
      <p:sp>
        <p:nvSpPr>
          <p:cNvPr id="111" name="Google Shape;111;g3a3f242b683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70e190ef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3a70e190ef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 12/16 2154: check</a:t>
            </a:r>
            <a:endParaRPr/>
          </a:p>
        </p:txBody>
      </p:sp>
      <p:sp>
        <p:nvSpPr>
          <p:cNvPr id="122" name="Google Shape;122;g3a70e190ef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03c85cf71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b03c85cf71_0_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32" name="Google Shape;132;g3b03c85cf71_0_1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3f242b683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3a3f242b683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 12/16 2154: check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42" name="Google Shape;142;g3a3f242b683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03c85cf71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b03c85cf71_0_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// pd​=kd​/ks+​kd​ , ps​=ks/​ks+kd &gt;&gt; by random num u; u &lt;pd? diffuse| Specular ​​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# Source / Implementation：</a:t>
            </a: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File: tracer_BSDF_sampling.h </a:t>
            </a: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Function: sample_brdf_direction, sample_cosine_hemisphere, sample_phong_lobe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53" name="Google Shape;153;g3b03c85cf71_0_1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70e190ef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70e190ef8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a70e190ef8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03c85cf71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b03c85cf71_0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75" name="Google Shape;175;g3b03c85cf71_0_1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71408b70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71408b706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3a71408b706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03c85cf71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b03c85cf71_0_1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// ps: 我們的木板上沒有很明顯的一顆一顆球光源的痕跡，是因為我的pixel有去取全部的光源。要明顯的一顆一顆的痕跡就要限制(eg: 0&lt;x&lt;1取紅、 1&lt;x&lt;2取黃...)安捏。</a:t>
            </a:r>
            <a:endParaRPr/>
          </a:p>
        </p:txBody>
      </p:sp>
      <p:sp>
        <p:nvSpPr>
          <p:cNvPr id="195" name="Google Shape;195;g3b03c85cf71_0_1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03c85cf7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b03c85cf71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09" name="Google Shape;209;g3b03c85cf71_0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03c85cf71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3b03c85cf71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[Statue: done☑️]</a:t>
            </a:r>
            <a:endParaRPr/>
          </a:p>
        </p:txBody>
      </p:sp>
      <p:sp>
        <p:nvSpPr>
          <p:cNvPr id="236" name="Google Shape;236;g3b03c85cf71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3f242b683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3a3f242b683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[Statue: done☑️]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Color Meaning：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romanU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Black：差異極小或為 0。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代表優化前後該像素的顏色幾乎完全一致。這是最理想的顏色，表示畫面的幾乎沒有損失正確性。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romanUcPeriod"/>
            </a:pPr>
            <a:r>
              <a:rPr lang="en-US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：微小差異。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通常是因為浮點數運算精度（Floating Point Precision）不同造成的。例如 (0.1 + 0.2) 在 CPU 一般運算與 -ffast-math 指令集下的結果可能在小數點後第 6 位有差。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romanUcPeriod"/>
            </a:pPr>
            <a:r>
              <a:rPr lang="en-US">
                <a:solidFill>
                  <a:srgbClr val="E691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Orange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lang="en-US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Yellow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：差異中等。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u="sng">
                <a:latin typeface="Times New Roman"/>
                <a:ea typeface="Times New Roman"/>
                <a:cs typeface="Times New Roman"/>
                <a:sym typeface="Times New Roman"/>
              </a:rPr>
              <a:t>通常發生在物體的邊緣 (Edges) 或陰影邊界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。因為光線</a:t>
            </a:r>
            <a:r>
              <a:rPr lang="en-US" u="sng">
                <a:latin typeface="Times New Roman"/>
                <a:ea typeface="Times New Roman"/>
                <a:cs typeface="Times New Roman"/>
                <a:sym typeface="Times New Roman"/>
              </a:rPr>
              <a:t>只要</a:t>
            </a:r>
            <a:r>
              <a:rPr lang="en-US" b="1" u="sng">
                <a:latin typeface="Times New Roman"/>
                <a:ea typeface="Times New Roman"/>
                <a:cs typeface="Times New Roman"/>
                <a:sym typeface="Times New Roman"/>
              </a:rPr>
              <a:t>稍微偏</a:t>
            </a:r>
            <a:r>
              <a:rPr lang="en-US" u="sng">
                <a:latin typeface="Times New Roman"/>
                <a:ea typeface="Times New Roman"/>
                <a:cs typeface="Times New Roman"/>
                <a:sym typeface="Times New Roman"/>
              </a:rPr>
              <a:t>一點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，可能就會從「打到物體」變成「沒打到」，導致顏色劇烈變化。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romanUcPeriod"/>
            </a:pPr>
            <a:r>
              <a:rPr lang="en-US">
                <a:solidFill>
                  <a:srgbClr val="FFFFFF"/>
                </a:solidFill>
                <a:highlight>
                  <a:srgbClr val="666666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White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：差異最大。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代表該點的計算結果</a:t>
            </a:r>
            <a:r>
              <a:rPr lang="en-US" u="sng">
                <a:latin typeface="Times New Roman"/>
                <a:ea typeface="Times New Roman"/>
                <a:cs typeface="Times New Roman"/>
                <a:sym typeface="Times New Roman"/>
              </a:rPr>
              <a:t>完全不同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-US" b="1">
                <a:highlight>
                  <a:srgbClr val="F1C232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結論：</a:t>
            </a:r>
            <a:endParaRPr b="1">
              <a:highlight>
                <a:srgbClr val="F1C232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如果做的是「無損加速（Lossless Optimization）」，整張圖應該全黑。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但因為我們專案有用 FastMath 及</a:t>
            </a:r>
            <a:r>
              <a:rPr lang="en-US" b="1" i="1" u="sng">
                <a:latin typeface="Times New Roman"/>
                <a:ea typeface="Times New Roman"/>
                <a:cs typeface="Times New Roman"/>
                <a:sym typeface="Times New Roman"/>
              </a:rPr>
              <a:t>隨機採樣（Monte Carlo）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—主因是亂數產生器改變，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出現紅色或橘色</a:t>
            </a:r>
            <a:r>
              <a:rPr lang="en-US" b="1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雜訊是正常的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，只要沒有大面積的白色色塊，通常視為 Pass。</a:t>
            </a:r>
            <a:endParaRPr/>
          </a:p>
        </p:txBody>
      </p:sp>
      <p:sp>
        <p:nvSpPr>
          <p:cNvPr id="250" name="Google Shape;250;g3a3f242b683_0_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3f242b683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3a3f242b683_0_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79" name="Google Shape;279;g3a3f242b683_0_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3f242b683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g3a3f242b683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done ☑️</a:t>
            </a:r>
            <a:endParaRPr/>
          </a:p>
        </p:txBody>
      </p:sp>
      <p:sp>
        <p:nvSpPr>
          <p:cNvPr id="288" name="Google Shape;288;g3a3f242b683_0_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03c85cf71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3b03c85cf71_0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done ☑️</a:t>
            </a:r>
            <a:endParaRPr/>
          </a:p>
        </p:txBody>
      </p:sp>
      <p:sp>
        <p:nvSpPr>
          <p:cNvPr id="297" name="Google Shape;297;g3b03c85cf71_0_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06" name="Google Shape;306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adc53507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3adc535076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note：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加速層面：物理複雜度 (幾何細分) 與 解析度 (Resolution)</a:t>
            </a:r>
            <a:endParaRPr/>
          </a:p>
        </p:txBody>
      </p:sp>
      <p:sp>
        <p:nvSpPr>
          <p:cNvPr id="36" name="Google Shape;36;g3adc535076a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>
  <p:cSld name="标题幻灯片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自定义版式">
  <p:cSld name="自定义版式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自定义版式">
  <p:cSld name="1_自定义版式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自定义版式">
  <p:cSld name="2_自定义版式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自定义版式">
  <p:cSld name="3_自定义版式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自定义版式">
  <p:cSld name="4_自定义版式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自定义版式">
  <p:cSld name="5_自定义版式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自定义版式">
  <p:cSld name="6_自定义版式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41"/>
          <p:cNvSpPr/>
          <p:nvPr/>
        </p:nvSpPr>
        <p:spPr>
          <a:xfrm>
            <a:off x="8325228" y="6545425"/>
            <a:ext cx="775136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lang="en-US" sz="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PPT模板下载：www.1ppt.com/moban/          行业PPT模板：www.1ppt.com/hangye/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lang="en-US" sz="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节日PPT模板：www.1ppt.com/jieri/          PPT素材：www.1ppt.com/sucai/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lang="en-US" sz="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PPT背景图片：www.1ppt.com/beijing/        PPT图表：www.1ppt.com/tubiao/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lang="en-US" sz="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精美PPT下载：www.1ppt.com/xiazai/         PPT教程： www.1ppt.com/powerpoint/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lang="en-US" sz="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PPT课件：www.1ppt.com/kejian/             字体下载：www.1ppt.com/ziti/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lang="en-US" sz="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工作总结PPT：www.1ppt.com/xiazai/zongjie/ 工作计划：www.1ppt.com/xiazai/jihua/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lang="en-US" sz="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商务PPT模板：www.1ppt.com/moban/shangwu/  个人简历PPT：www.1ppt.com/xiazai/jianli/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lang="en-US" sz="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毕业答辩PPT：www.1ppt.com/xiazai/dabian/  工作汇报PPT：www.1ppt.com/xiazai/huibao/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lang="en-US" sz="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自定义版式">
  <p:cSld name="7_自定义版式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自定义版式">
  <p:cSld name="8_自定义版式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5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xiangtinglin/Graphics-hw4_Final.git" TargetMode="External"/><Relationship Id="rId3" Type="http://schemas.openxmlformats.org/officeDocument/2006/relationships/hyperlink" Target="https://graphics.stanford.edu/papers/veach_thesis/thesis-bw.pdf" TargetMode="External"/><Relationship Id="rId7" Type="http://schemas.openxmlformats.org/officeDocument/2006/relationships/hyperlink" Target="https://drive.google.com/drive/folders/1wuMCMi0IVfR5Dm4COATuXoF1XeDCQF-A?usp=drive_link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kyostil/kajo" TargetMode="External"/><Relationship Id="rId5" Type="http://schemas.openxmlformats.org/officeDocument/2006/relationships/hyperlink" Target="https://www.raysect.org/demonstrations/core/multiple_importance_sampling.html" TargetMode="External"/><Relationship Id="rId4" Type="http://schemas.openxmlformats.org/officeDocument/2006/relationships/hyperlink" Target="https://cw.fel.cvut.cz/b241/_media/courses/b4m39rso/tutorials/multiple_importance_sampling_101.pdf" TargetMode="External"/><Relationship Id="rId9" Type="http://schemas.openxmlformats.org/officeDocument/2006/relationships/hyperlink" Target="https://drive.google.com/drive/folders/1s9NiddcR6ITHEAff-9FNxM46gcedo2lY?usp=drive_link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537883"/>
            <a:ext cx="10972800" cy="5782237"/>
          </a:xfrm>
          <a:custGeom>
            <a:avLst/>
            <a:gdLst/>
            <a:ahLst/>
            <a:cxnLst/>
            <a:rect l="l" t="t" r="r" b="b"/>
            <a:pathLst>
              <a:path w="10972800" h="5782237" extrusionOk="0">
                <a:moveTo>
                  <a:pt x="0" y="0"/>
                </a:moveTo>
                <a:lnTo>
                  <a:pt x="10972800" y="0"/>
                </a:lnTo>
                <a:lnTo>
                  <a:pt x="10972800" y="5782237"/>
                </a:lnTo>
                <a:lnTo>
                  <a:pt x="0" y="578223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6" name="Google Shape;46;p1"/>
          <p:cNvSpPr/>
          <p:nvPr/>
        </p:nvSpPr>
        <p:spPr>
          <a:xfrm>
            <a:off x="1240489" y="1183341"/>
            <a:ext cx="9768170" cy="449131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1212000" y="2801475"/>
            <a:ext cx="976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000" b="1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114-1</a:t>
            </a:r>
            <a:r>
              <a:rPr lang="en-US" sz="30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1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高等計算機圖學 (Advanced Computer Graphics)</a:t>
            </a:r>
            <a:endParaRPr sz="3000" b="1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4694925" y="3599173"/>
            <a:ext cx="2859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 b="0" i="0" u="none" strike="noStrike" cap="none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Project</a:t>
            </a:r>
            <a:endParaRPr sz="2600" b="0" i="0" u="none" strike="noStrike" cap="none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9" name="Google Shape;49;p1"/>
          <p:cNvGrpSpPr/>
          <p:nvPr/>
        </p:nvGrpSpPr>
        <p:grpSpPr>
          <a:xfrm>
            <a:off x="4387034" y="3845464"/>
            <a:ext cx="3417933" cy="0"/>
            <a:chOff x="4348117" y="3845464"/>
            <a:chExt cx="3417933" cy="0"/>
          </a:xfrm>
        </p:grpSpPr>
        <p:cxnSp>
          <p:nvCxnSpPr>
            <p:cNvPr id="50" name="Google Shape;50;p1"/>
            <p:cNvCxnSpPr/>
            <p:nvPr/>
          </p:nvCxnSpPr>
          <p:spPr>
            <a:xfrm>
              <a:off x="7525657" y="3845464"/>
              <a:ext cx="240393" cy="0"/>
            </a:xfrm>
            <a:prstGeom prst="straightConnector1">
              <a:avLst/>
            </a:prstGeom>
            <a:noFill/>
            <a:ln w="2540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4348117" y="3845464"/>
              <a:ext cx="240393" cy="0"/>
            </a:xfrm>
            <a:prstGeom prst="straightConnector1">
              <a:avLst/>
            </a:prstGeom>
            <a:noFill/>
            <a:ln w="2540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52" name="Google Shape;52;p1"/>
          <p:cNvGrpSpPr/>
          <p:nvPr/>
        </p:nvGrpSpPr>
        <p:grpSpPr>
          <a:xfrm>
            <a:off x="4191526" y="4273525"/>
            <a:ext cx="4625350" cy="800400"/>
            <a:chOff x="4094584" y="4347848"/>
            <a:chExt cx="3559056" cy="800400"/>
          </a:xfrm>
        </p:grpSpPr>
        <p:sp>
          <p:nvSpPr>
            <p:cNvPr id="53" name="Google Shape;53;p1"/>
            <p:cNvSpPr txBox="1"/>
            <p:nvPr/>
          </p:nvSpPr>
          <p:spPr>
            <a:xfrm>
              <a:off x="4094584" y="4347848"/>
              <a:ext cx="17757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200" i="0" u="none" strike="noStrike" cap="none">
                  <a:latin typeface="Times New Roman"/>
                  <a:ea typeface="Times New Roman"/>
                  <a:cs typeface="Times New Roman"/>
                  <a:sym typeface="Times New Roman"/>
                </a:rPr>
                <a:t>Group members</a:t>
              </a:r>
              <a:r>
                <a:rPr lang="en-US" sz="2200">
                  <a:latin typeface="Times New Roman"/>
                  <a:ea typeface="Times New Roman"/>
                  <a:cs typeface="Times New Roman"/>
                  <a:sym typeface="Times New Roman"/>
                </a:rPr>
                <a:t> :</a:t>
              </a:r>
              <a:endParaRPr sz="2200" i="0" u="none" strike="noStrike" cap="none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" name="Google Shape;54;p1"/>
            <p:cNvSpPr txBox="1"/>
            <p:nvPr/>
          </p:nvSpPr>
          <p:spPr>
            <a:xfrm>
              <a:off x="5718640" y="4378748"/>
              <a:ext cx="19350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43434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柯志穎 61447103S</a:t>
              </a:r>
              <a:endParaRPr sz="2200" b="0" i="0" u="none" strike="noStrike" cap="none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43434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林湘婷 61347114S</a:t>
              </a:r>
              <a:endParaRPr sz="2200" b="0" i="0" u="none" strike="noStrike" cap="none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5" name="Google Shape;55;p1"/>
          <p:cNvSpPr txBox="1"/>
          <p:nvPr/>
        </p:nvSpPr>
        <p:spPr>
          <a:xfrm>
            <a:off x="4694918" y="5335961"/>
            <a:ext cx="285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2025.1</a:t>
            </a:r>
            <a:r>
              <a:rPr lang="en-US" sz="16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600" b="0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16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1600" b="0" i="0" u="none" strike="noStrike" cap="non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3"/>
          <p:cNvGrpSpPr/>
          <p:nvPr/>
        </p:nvGrpSpPr>
        <p:grpSpPr>
          <a:xfrm>
            <a:off x="486675" y="1570488"/>
            <a:ext cx="11218500" cy="4416570"/>
            <a:chOff x="486675" y="2046675"/>
            <a:chExt cx="11218500" cy="3940200"/>
          </a:xfrm>
        </p:grpSpPr>
        <p:sp>
          <p:nvSpPr>
            <p:cNvPr id="63" name="Google Shape;63;p3"/>
            <p:cNvSpPr/>
            <p:nvPr/>
          </p:nvSpPr>
          <p:spPr>
            <a:xfrm>
              <a:off x="486675" y="2046675"/>
              <a:ext cx="11218500" cy="39402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4800" tIns="47375" rIns="94800" bIns="473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6"/>
                <a:buFont typeface="Arial"/>
                <a:buNone/>
              </a:pPr>
              <a:endParaRPr sz="1866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3"/>
            <p:cNvSpPr txBox="1"/>
            <p:nvPr/>
          </p:nvSpPr>
          <p:spPr>
            <a:xfrm>
              <a:off x="569575" y="2457450"/>
              <a:ext cx="11071200" cy="281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4800" tIns="47375" rIns="94800" bIns="473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6"/>
                <a:buFont typeface="Arial"/>
                <a:buNone/>
              </a:pPr>
              <a:r>
                <a:rPr lang="en-US" sz="4817">
                  <a:latin typeface="Times New Roman"/>
                  <a:ea typeface="Times New Roman"/>
                  <a:cs typeface="Times New Roman"/>
                  <a:sym typeface="Times New Roman"/>
                </a:rPr>
                <a:t>Ray Tracing with BVH Acceleration </a:t>
              </a:r>
              <a:endParaRPr sz="4817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6"/>
                <a:buFont typeface="Arial"/>
                <a:buNone/>
              </a:pPr>
              <a:r>
                <a:rPr lang="en-US" sz="4817">
                  <a:latin typeface="Times New Roman"/>
                  <a:ea typeface="Times New Roman"/>
                  <a:cs typeface="Times New Roman"/>
                  <a:sym typeface="Times New Roman"/>
                </a:rPr>
                <a:t>and </a:t>
              </a:r>
              <a:endParaRPr sz="4817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6"/>
                <a:buFont typeface="Arial"/>
                <a:buNone/>
              </a:pPr>
              <a:r>
                <a:rPr lang="en-US" sz="4817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lang="en-US" sz="4817">
                  <a:latin typeface="Times New Roman"/>
                  <a:ea typeface="Times New Roman"/>
                  <a:cs typeface="Times New Roman"/>
                  <a:sym typeface="Times New Roman"/>
                </a:rPr>
                <a:t>ultiple </a:t>
              </a:r>
              <a:r>
                <a:rPr lang="en-US" sz="4817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4817">
                  <a:latin typeface="Times New Roman"/>
                  <a:ea typeface="Times New Roman"/>
                  <a:cs typeface="Times New Roman"/>
                  <a:sym typeface="Times New Roman"/>
                </a:rPr>
                <a:t>mportance </a:t>
              </a:r>
              <a:r>
                <a:rPr lang="en-US" sz="4817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r>
                <a:rPr lang="en-US" sz="4817">
                  <a:latin typeface="Times New Roman"/>
                  <a:ea typeface="Times New Roman"/>
                  <a:cs typeface="Times New Roman"/>
                  <a:sym typeface="Times New Roman"/>
                </a:rPr>
                <a:t>ampling</a:t>
              </a:r>
              <a:endParaRPr sz="4817" i="0" u="none" strike="noStrike" cap="none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5" name="Google Shape;65;p3"/>
          <p:cNvGrpSpPr/>
          <p:nvPr/>
        </p:nvGrpSpPr>
        <p:grpSpPr>
          <a:xfrm>
            <a:off x="486731" y="768942"/>
            <a:ext cx="1691931" cy="801635"/>
            <a:chOff x="4984343" y="1431975"/>
            <a:chExt cx="2223300" cy="801635"/>
          </a:xfrm>
        </p:grpSpPr>
        <p:sp>
          <p:nvSpPr>
            <p:cNvPr id="66" name="Google Shape;66;p3"/>
            <p:cNvSpPr/>
            <p:nvPr/>
          </p:nvSpPr>
          <p:spPr>
            <a:xfrm>
              <a:off x="4984343" y="1431975"/>
              <a:ext cx="2223300" cy="69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4800" tIns="47375" rIns="94800" bIns="473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6"/>
                <a:buFont typeface="Arial"/>
                <a:buNone/>
              </a:pPr>
              <a:r>
                <a:rPr lang="en-US" sz="4832">
                  <a:solidFill>
                    <a:srgbClr val="43434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Topic</a:t>
              </a:r>
              <a:endParaRPr sz="4832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7" name="Google Shape;67;p3"/>
            <p:cNvCxnSpPr/>
            <p:nvPr/>
          </p:nvCxnSpPr>
          <p:spPr>
            <a:xfrm rot="10800000" flipH="1">
              <a:off x="5366275" y="2226110"/>
              <a:ext cx="1477800" cy="7500"/>
            </a:xfrm>
            <a:prstGeom prst="straightConnector1">
              <a:avLst/>
            </a:prstGeom>
            <a:noFill/>
            <a:ln w="39500" cap="flat" cmpd="sng">
              <a:solidFill>
                <a:srgbClr val="66666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8" name="Google Shape;68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-4" y="3"/>
            <a:ext cx="2599800" cy="6858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" name="Google Shape;75;p4"/>
          <p:cNvGrpSpPr/>
          <p:nvPr/>
        </p:nvGrpSpPr>
        <p:grpSpPr>
          <a:xfrm>
            <a:off x="237610" y="2766250"/>
            <a:ext cx="2124600" cy="1222585"/>
            <a:chOff x="4202485" y="2926198"/>
            <a:chExt cx="2124600" cy="1222585"/>
          </a:xfrm>
        </p:grpSpPr>
        <p:sp>
          <p:nvSpPr>
            <p:cNvPr id="76" name="Google Shape;76;p4"/>
            <p:cNvSpPr txBox="1"/>
            <p:nvPr/>
          </p:nvSpPr>
          <p:spPr>
            <a:xfrm>
              <a:off x="4202485" y="2926198"/>
              <a:ext cx="21246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lang="en-US" sz="6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目錄</a:t>
              </a:r>
              <a:endParaRPr sz="140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77;p4"/>
            <p:cNvSpPr txBox="1"/>
            <p:nvPr/>
          </p:nvSpPr>
          <p:spPr>
            <a:xfrm>
              <a:off x="4472638" y="3779482"/>
              <a:ext cx="1584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i="0" u="none" strike="noStrike" cap="none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CONTENTS</a:t>
              </a:r>
              <a:endParaRPr sz="1800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78" name="Google Shape;78;p4"/>
          <p:cNvSpPr/>
          <p:nvPr/>
        </p:nvSpPr>
        <p:spPr>
          <a:xfrm flipH="1">
            <a:off x="3723793" y="877875"/>
            <a:ext cx="431700" cy="431700"/>
          </a:xfrm>
          <a:prstGeom prst="snipRoundRect">
            <a:avLst>
              <a:gd name="adj1" fmla="val 26021"/>
              <a:gd name="adj2" fmla="val 26645"/>
            </a:avLst>
          </a:prstGeom>
          <a:noFill/>
          <a:ln w="222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3672624" y="940344"/>
            <a:ext cx="552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sz="180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4404875" y="1891600"/>
            <a:ext cx="3236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sz="280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4"/>
          <p:cNvSpPr/>
          <p:nvPr/>
        </p:nvSpPr>
        <p:spPr>
          <a:xfrm flipH="1">
            <a:off x="3723793" y="1853485"/>
            <a:ext cx="431700" cy="431700"/>
          </a:xfrm>
          <a:prstGeom prst="snipRoundRect">
            <a:avLst>
              <a:gd name="adj1" fmla="val 26021"/>
              <a:gd name="adj2" fmla="val 26645"/>
            </a:avLst>
          </a:prstGeom>
          <a:noFill/>
          <a:ln w="222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3672624" y="1915953"/>
            <a:ext cx="552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sz="180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4404875" y="2867200"/>
            <a:ext cx="38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Methods &amp; Techniques</a:t>
            </a:r>
            <a:endParaRPr sz="2800" b="1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4"/>
          <p:cNvSpPr/>
          <p:nvPr/>
        </p:nvSpPr>
        <p:spPr>
          <a:xfrm flipH="1">
            <a:off x="3723793" y="2829094"/>
            <a:ext cx="431700" cy="431700"/>
          </a:xfrm>
          <a:prstGeom prst="snipRoundRect">
            <a:avLst>
              <a:gd name="adj1" fmla="val 26021"/>
              <a:gd name="adj2" fmla="val 26645"/>
            </a:avLst>
          </a:prstGeom>
          <a:noFill/>
          <a:ln w="222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3672624" y="2891562"/>
            <a:ext cx="552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sz="180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4404875" y="3842800"/>
            <a:ext cx="38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Results &amp; Performance</a:t>
            </a:r>
            <a:endParaRPr sz="1400" b="1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4"/>
          <p:cNvSpPr/>
          <p:nvPr/>
        </p:nvSpPr>
        <p:spPr>
          <a:xfrm flipH="1">
            <a:off x="3723793" y="3804703"/>
            <a:ext cx="431700" cy="431700"/>
          </a:xfrm>
          <a:prstGeom prst="snipRoundRect">
            <a:avLst>
              <a:gd name="adj1" fmla="val 26021"/>
              <a:gd name="adj2" fmla="val 26645"/>
            </a:avLst>
          </a:prstGeom>
          <a:noFill/>
          <a:ln w="222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3672624" y="3867171"/>
            <a:ext cx="552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sz="180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4404875" y="4856525"/>
            <a:ext cx="38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Conclusion &amp; Discussion</a:t>
            </a:r>
            <a:endParaRPr sz="140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4"/>
          <p:cNvSpPr/>
          <p:nvPr/>
        </p:nvSpPr>
        <p:spPr>
          <a:xfrm flipH="1">
            <a:off x="3723793" y="4818428"/>
            <a:ext cx="431700" cy="431700"/>
          </a:xfrm>
          <a:prstGeom prst="snipRoundRect">
            <a:avLst>
              <a:gd name="adj1" fmla="val 26021"/>
              <a:gd name="adj2" fmla="val 26645"/>
            </a:avLst>
          </a:prstGeom>
          <a:noFill/>
          <a:ln w="222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3672624" y="4880896"/>
            <a:ext cx="552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4404875" y="832125"/>
            <a:ext cx="4133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Introduction &amp; Motivation</a:t>
            </a:r>
            <a:endParaRPr sz="280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3" name="Google Shape;93;p4"/>
          <p:cNvGrpSpPr/>
          <p:nvPr/>
        </p:nvGrpSpPr>
        <p:grpSpPr>
          <a:xfrm>
            <a:off x="3654124" y="5755850"/>
            <a:ext cx="4737451" cy="523200"/>
            <a:chOff x="7275049" y="1099925"/>
            <a:chExt cx="4737451" cy="523200"/>
          </a:xfrm>
        </p:grpSpPr>
        <p:sp>
          <p:nvSpPr>
            <p:cNvPr id="94" name="Google Shape;94;p4"/>
            <p:cNvSpPr/>
            <p:nvPr/>
          </p:nvSpPr>
          <p:spPr>
            <a:xfrm flipH="1">
              <a:off x="7326218" y="1145678"/>
              <a:ext cx="431700" cy="431700"/>
            </a:xfrm>
            <a:prstGeom prst="snipRoundRect">
              <a:avLst>
                <a:gd name="adj1" fmla="val 26021"/>
                <a:gd name="adj2" fmla="val 26645"/>
              </a:avLst>
            </a:prstGeom>
            <a:noFill/>
            <a:ln w="222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" name="Google Shape;95;p4"/>
            <p:cNvGrpSpPr/>
            <p:nvPr/>
          </p:nvGrpSpPr>
          <p:grpSpPr>
            <a:xfrm>
              <a:off x="7275049" y="1099925"/>
              <a:ext cx="4737451" cy="523200"/>
              <a:chOff x="7275049" y="1099925"/>
              <a:chExt cx="4737451" cy="523200"/>
            </a:xfrm>
          </p:grpSpPr>
          <p:sp>
            <p:nvSpPr>
              <p:cNvPr id="96" name="Google Shape;96;p4"/>
              <p:cNvSpPr txBox="1"/>
              <p:nvPr/>
            </p:nvSpPr>
            <p:spPr>
              <a:xfrm>
                <a:off x="7275049" y="1208146"/>
                <a:ext cx="5529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i="0" u="none" strike="noStrike" cap="none"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r>
                  <a:rPr lang="en-US" sz="1800">
                    <a:latin typeface="Times New Roman"/>
                    <a:ea typeface="Times New Roman"/>
                    <a:cs typeface="Times New Roman"/>
                    <a:sym typeface="Times New Roman"/>
                  </a:rPr>
                  <a:t>6</a:t>
                </a:r>
                <a:endParaRPr sz="1800" i="0" u="none" strike="noStrike" cap="none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" name="Google Shape;97;p4"/>
              <p:cNvSpPr txBox="1"/>
              <p:nvPr/>
            </p:nvSpPr>
            <p:spPr>
              <a:xfrm>
                <a:off x="8025800" y="1099925"/>
                <a:ext cx="39867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>
                    <a:solidFill>
                      <a:srgbClr val="666666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Appendix</a:t>
                </a:r>
                <a:endParaRPr sz="1400" i="0" u="none" strike="noStrike" cap="none">
                  <a:solidFill>
                    <a:srgbClr val="66666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98" name="Google Shape;98;p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/>
          <p:nvPr/>
        </p:nvSpPr>
        <p:spPr>
          <a:xfrm>
            <a:off x="758300" y="378375"/>
            <a:ext cx="5652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01. Introduction &amp; Motivation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758300" y="1254875"/>
            <a:ext cx="11170800" cy="52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600"/>
              <a:buFont typeface="Times New Roman"/>
              <a:buChar char="●"/>
            </a:pPr>
            <a:r>
              <a:rPr lang="en-US" sz="2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field of computer graphics,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Ray Tracing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is the gold standard for generating photorealistic images.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However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, it faces </a:t>
            </a:r>
            <a:r>
              <a:rPr lang="en-US" sz="2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major challenges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28700" lvl="0" indent="-393700" algn="l" rtl="0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AutoNum type="romanUcPeriod"/>
            </a:pPr>
            <a:r>
              <a:rPr lang="en-US" sz="2600" i="1">
                <a:latin typeface="Times New Roman"/>
                <a:ea typeface="Times New Roman"/>
                <a:cs typeface="Times New Roman"/>
                <a:sym typeface="Times New Roman"/>
              </a:rPr>
              <a:t>computational </a:t>
            </a:r>
            <a:r>
              <a:rPr lang="en-US" sz="2600" i="1" u="sng">
                <a:latin typeface="Times New Roman"/>
                <a:ea typeface="Times New Roman"/>
                <a:cs typeface="Times New Roman"/>
                <a:sym typeface="Times New Roman"/>
              </a:rPr>
              <a:t>cost</a:t>
            </a:r>
            <a:r>
              <a:rPr lang="en-US" sz="2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(due to intersection tests) </a:t>
            </a:r>
            <a:endParaRPr sz="2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28700" lvl="0" indent="-393700" algn="l" rtl="0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AutoNum type="romanUcPeriod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6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i="1" u="sng">
                <a:latin typeface="Times New Roman"/>
                <a:ea typeface="Times New Roman"/>
                <a:cs typeface="Times New Roman"/>
                <a:sym typeface="Times New Roman"/>
              </a:rPr>
              <a:t>rendering noise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(due to </a:t>
            </a:r>
            <a:r>
              <a:rPr lang="en-US" sz="2600" i="1">
                <a:latin typeface="Times New Roman"/>
                <a:ea typeface="Times New Roman"/>
                <a:cs typeface="Times New Roman"/>
                <a:sym typeface="Times New Roman"/>
              </a:rPr>
              <a:t>inefficient sampling</a:t>
            </a:r>
            <a:r>
              <a:rPr lang="en-US" sz="2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2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The motivation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is to </a:t>
            </a:r>
            <a:r>
              <a:rPr lang="en-US" sz="2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tackle these challenges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simultaneously. </a:t>
            </a:r>
            <a:r>
              <a:rPr lang="en-US" sz="2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600" b="1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aimed</a:t>
            </a:r>
            <a:r>
              <a:rPr lang="en-US" sz="2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implement a robust Ray Tracer. </a:t>
            </a:r>
            <a:endParaRPr sz="2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28700" lvl="0" indent="-393700" algn="l" rtl="0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AutoNum type="romanUcPeriod"/>
            </a:pPr>
            <a:r>
              <a:rPr lang="en-US" sz="2600" i="1">
                <a:latin typeface="Times New Roman"/>
                <a:ea typeface="Times New Roman"/>
                <a:cs typeface="Times New Roman"/>
                <a:sym typeface="Times New Roman"/>
              </a:rPr>
              <a:t>By integrating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i="1" u="sng">
                <a:latin typeface="Times New Roman"/>
                <a:ea typeface="Times New Roman"/>
                <a:cs typeface="Times New Roman"/>
                <a:sym typeface="Times New Roman"/>
              </a:rPr>
              <a:t>Bounding Volume Hierarchies (</a:t>
            </a:r>
            <a:r>
              <a:rPr lang="en-US" sz="2600" b="1" i="1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BVH</a:t>
            </a:r>
            <a:r>
              <a:rPr lang="en-US" sz="2600" i="1" u="sng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address the performance bottleneck. </a:t>
            </a:r>
            <a:endParaRPr sz="2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28700" lvl="0" indent="-393700" algn="l" rtl="0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AutoNum type="romanUcPeriod"/>
            </a:pPr>
            <a:r>
              <a:rPr lang="en-US" sz="2600" i="1">
                <a:latin typeface="Times New Roman"/>
                <a:ea typeface="Times New Roman"/>
                <a:cs typeface="Times New Roman"/>
                <a:sym typeface="Times New Roman"/>
              </a:rPr>
              <a:t>By implementing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i="1" u="sng">
                <a:latin typeface="Times New Roman"/>
                <a:ea typeface="Times New Roman"/>
                <a:cs typeface="Times New Roman"/>
                <a:sym typeface="Times New Roman"/>
              </a:rPr>
              <a:t>Multiple Importance Sampling (</a:t>
            </a:r>
            <a:r>
              <a:rPr lang="en-US" sz="2600" b="1" i="1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</a:t>
            </a:r>
            <a:r>
              <a:rPr lang="en-US" sz="2600" i="1" u="sng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, which </a:t>
            </a:r>
            <a:r>
              <a:rPr lang="en-US" sz="260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</a:t>
            </a:r>
            <a:r>
              <a:rPr lang="en-US" sz="2600" i="1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</a:t>
            </a:r>
            <a:r>
              <a:rPr lang="en-US" sz="260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Sampling and </a:t>
            </a:r>
            <a:r>
              <a:rPr lang="en-US" sz="2600" i="1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BSDF</a:t>
            </a:r>
            <a:r>
              <a:rPr lang="en-US" sz="260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Sampling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significantly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reduce noise and handle various material properties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600" i="1" u="sng">
                <a:latin typeface="Times New Roman"/>
                <a:ea typeface="Times New Roman"/>
                <a:cs typeface="Times New Roman"/>
                <a:sym typeface="Times New Roman"/>
              </a:rPr>
              <a:t>diffuse and glossy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effectively.</a:t>
            </a:r>
            <a:endParaRPr sz="2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6" name="Google Shape;106;p6"/>
          <p:cNvCxnSpPr/>
          <p:nvPr/>
        </p:nvCxnSpPr>
        <p:spPr>
          <a:xfrm>
            <a:off x="603250" y="0"/>
            <a:ext cx="0" cy="1123950"/>
          </a:xfrm>
          <a:prstGeom prst="straightConnector1">
            <a:avLst/>
          </a:prstGeom>
          <a:noFill/>
          <a:ln w="317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7" name="Google Shape;107;p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3f242b683_0_14"/>
          <p:cNvSpPr txBox="1"/>
          <p:nvPr/>
        </p:nvSpPr>
        <p:spPr>
          <a:xfrm>
            <a:off x="758300" y="378375"/>
            <a:ext cx="5272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02. System Architecture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g3a3f242b683_0_14"/>
          <p:cNvSpPr txBox="1"/>
          <p:nvPr/>
        </p:nvSpPr>
        <p:spPr>
          <a:xfrm>
            <a:off x="758300" y="1285125"/>
            <a:ext cx="11277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●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To explain the </a:t>
            </a:r>
            <a:r>
              <a:rPr lang="en-US" sz="2500" b="1">
                <a:latin typeface="Times New Roman"/>
                <a:ea typeface="Times New Roman"/>
                <a:cs typeface="Times New Roman"/>
                <a:sym typeface="Times New Roman"/>
              </a:rPr>
              <a:t>codebase structure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, I liken the system to a </a:t>
            </a:r>
            <a:r>
              <a:rPr lang="en-US" sz="25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film production crew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5" name="Google Shape;115;g3a3f242b683_0_14"/>
          <p:cNvCxnSpPr/>
          <p:nvPr/>
        </p:nvCxnSpPr>
        <p:spPr>
          <a:xfrm>
            <a:off x="603250" y="0"/>
            <a:ext cx="0" cy="1124100"/>
          </a:xfrm>
          <a:prstGeom prst="straightConnector1">
            <a:avLst/>
          </a:prstGeom>
          <a:noFill/>
          <a:ln w="317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6" name="Google Shape;116;g3a3f242b683_0_14"/>
          <p:cNvSpPr txBox="1"/>
          <p:nvPr/>
        </p:nvSpPr>
        <p:spPr>
          <a:xfrm>
            <a:off x="5403850" y="2153325"/>
            <a:ext cx="5791500" cy="44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Director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(導演)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Script 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(劇本 Defines the "plot")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Cinematographer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(攝影指導)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Lighting Technician 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(燈光師)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Art &amp; Material Dept 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(美術組)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Editor/Compositor (剪輯/後製)</a:t>
            </a:r>
            <a:endParaRPr sz="2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Stage Manager 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(場務BVH)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驗證場務管理 (BVH) 是否有效</a:t>
            </a:r>
            <a:endParaRPr sz="2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math / physical operations rules</a:t>
            </a:r>
            <a:endParaRPr sz="2500" b="1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g3a3f242b683_0_14"/>
          <p:cNvSpPr txBox="1"/>
          <p:nvPr/>
        </p:nvSpPr>
        <p:spPr>
          <a:xfrm>
            <a:off x="603250" y="1762125"/>
            <a:ext cx="48006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├── AdvCG_Final_MIS</a:t>
            </a:r>
            <a:r>
              <a:rPr lang="en-US" sz="2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.cc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├── input</a:t>
            </a:r>
            <a:r>
              <a:rPr lang="en-US" sz="2500">
                <a:solidFill>
                  <a:srgbClr val="B45F0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.txt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├── tracer_camera</a:t>
            </a:r>
            <a:r>
              <a:rPr lang="en-US" sz="25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.h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├── tracer_light_source</a:t>
            </a:r>
            <a:r>
              <a:rPr lang="en-US" sz="25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.h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├── tracer_BSDF_sampling</a:t>
            </a:r>
            <a:r>
              <a:rPr lang="en-US" sz="25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.h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├── tracer_MIS</a:t>
            </a:r>
            <a:r>
              <a:rPr lang="en-US" sz="25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.h</a:t>
            </a:r>
            <a:endParaRPr sz="2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├── Speed_up</a:t>
            </a:r>
            <a:r>
              <a:rPr lang="en-US" sz="25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.h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├── benchmark_bvh.py	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└── vec3</a:t>
            </a:r>
            <a:r>
              <a:rPr lang="en-US" sz="25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.h</a:t>
            </a:r>
            <a:endParaRPr/>
          </a:p>
        </p:txBody>
      </p:sp>
      <p:sp>
        <p:nvSpPr>
          <p:cNvPr id="118" name="Google Shape;118;g3a3f242b683_0_1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70e190ef8_0_0"/>
          <p:cNvSpPr txBox="1"/>
          <p:nvPr/>
        </p:nvSpPr>
        <p:spPr>
          <a:xfrm>
            <a:off x="758300" y="378375"/>
            <a:ext cx="5727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03. Methods &amp; Techniques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g3a70e190ef8_0_0"/>
          <p:cNvSpPr txBox="1"/>
          <p:nvPr/>
        </p:nvSpPr>
        <p:spPr>
          <a:xfrm>
            <a:off x="758300" y="1300650"/>
            <a:ext cx="11433600" cy="56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Multiple Importance Sampling (MIS)</a:t>
            </a:r>
            <a:endParaRPr sz="2600"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00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00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MIS = </a:t>
            </a:r>
            <a:r>
              <a:rPr lang="en-US" sz="26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(Sampling from Light) + </a:t>
            </a:r>
            <a:r>
              <a:rPr lang="en-US" sz="26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(Sampling from BSDF) </a:t>
            </a:r>
            <a:r>
              <a:rPr lang="en-US" sz="2600" b="1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2600" b="1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Weighted by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lang="en-US" sz="26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 Heuristic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endParaRPr sz="2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na: a 策略取樣數、pa: pdf of a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策略  -&gt;  算權重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File: tracer_MIS.h / Function: balance_weight, evaluate_mis</a:t>
            </a:r>
            <a:endParaRPr sz="24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6" name="Google Shape;126;g3a70e190ef8_0_0"/>
          <p:cNvCxnSpPr/>
          <p:nvPr/>
        </p:nvCxnSpPr>
        <p:spPr>
          <a:xfrm>
            <a:off x="603250" y="0"/>
            <a:ext cx="0" cy="1124100"/>
          </a:xfrm>
          <a:prstGeom prst="straightConnector1">
            <a:avLst/>
          </a:prstGeom>
          <a:noFill/>
          <a:ln w="317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27" name="Google Shape;127;g3a70e190ef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9966" y="3490975"/>
            <a:ext cx="6410275" cy="146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a70e190ef8_0_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03c85cf71_0_136"/>
          <p:cNvSpPr txBox="1"/>
          <p:nvPr/>
        </p:nvSpPr>
        <p:spPr>
          <a:xfrm>
            <a:off x="758300" y="1300250"/>
            <a:ext cx="11276400" cy="56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Multiple Importance Sampling (MIS)</a:t>
            </a:r>
            <a:endParaRPr sz="2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3. Weighting Strategy (MIS Weighting)</a:t>
            </a:r>
            <a:endParaRPr sz="2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1445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Technique: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144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 Heuristic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is used to </a:t>
            </a:r>
            <a:r>
              <a:rPr lang="en-US" sz="2600" u="sng">
                <a:latin typeface="Times New Roman"/>
                <a:ea typeface="Times New Roman"/>
                <a:cs typeface="Times New Roman"/>
                <a:sym typeface="Times New Roman"/>
              </a:rPr>
              <a:t>combine the two sampling strategies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144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144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1445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Details: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144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The function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calculates weights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for both Light and BRDF samples and </a:t>
            </a:r>
            <a:r>
              <a:rPr lang="en-US" sz="2600" i="1" u="sng">
                <a:latin typeface="Times New Roman"/>
                <a:ea typeface="Times New Roman"/>
                <a:cs typeface="Times New Roman"/>
                <a:sym typeface="Times New Roman"/>
              </a:rPr>
              <a:t>sums their weighted contributions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lang="en-US" sz="2600" i="1">
                <a:latin typeface="Times New Roman"/>
                <a:ea typeface="Times New Roman"/>
                <a:cs typeface="Times New Roman"/>
                <a:sym typeface="Times New Roman"/>
              </a:rPr>
              <a:t>produce the final pixel color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144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144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5" name="Google Shape;135;g3b03c85cf71_0_136"/>
          <p:cNvCxnSpPr/>
          <p:nvPr/>
        </p:nvCxnSpPr>
        <p:spPr>
          <a:xfrm>
            <a:off x="603250" y="0"/>
            <a:ext cx="0" cy="1124100"/>
          </a:xfrm>
          <a:prstGeom prst="straightConnector1">
            <a:avLst/>
          </a:prstGeom>
          <a:noFill/>
          <a:ln w="317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6" name="Google Shape;136;g3b03c85cf71_0_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9750" y="3424275"/>
            <a:ext cx="7650249" cy="95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b03c85cf71_0_136"/>
          <p:cNvSpPr txBox="1"/>
          <p:nvPr/>
        </p:nvSpPr>
        <p:spPr>
          <a:xfrm>
            <a:off x="758300" y="378375"/>
            <a:ext cx="4986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03. Methods &amp; Techniques</a:t>
            </a:r>
            <a:endParaRPr sz="32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g3b03c85cf71_0_13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3f242b683_0_22"/>
          <p:cNvSpPr txBox="1"/>
          <p:nvPr/>
        </p:nvSpPr>
        <p:spPr>
          <a:xfrm>
            <a:off x="758300" y="378375"/>
            <a:ext cx="5727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03. Methods &amp; Techniques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g3a3f242b683_0_22"/>
          <p:cNvSpPr txBox="1"/>
          <p:nvPr/>
        </p:nvSpPr>
        <p:spPr>
          <a:xfrm>
            <a:off x="758300" y="1300650"/>
            <a:ext cx="11433600" cy="5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Multiple Importance Sampling (MIS)</a:t>
            </a:r>
            <a:endParaRPr sz="2600"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2. Sampling from Light (光源採樣)</a:t>
            </a:r>
            <a:endParaRPr sz="2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573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Concept: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57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hit_scene(...) 找交點 p，p 對</a:t>
            </a:r>
            <a:r>
              <a:rPr lang="en-US" sz="2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每一顆光源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依序做一次取樣。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8288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AutoNum type="arabicParenR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在光源球面上均勻抽一個點。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8288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AutoNum type="arabicParenR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用 shading 點 (p) </a:t>
            </a:r>
            <a:r>
              <a:rPr lang="en-US" sz="2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指向這個光源點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，得到入射方向。(背面就drop)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8288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AutoNum type="arabicParenR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算這個方向的 PDF（從面積 PDF 轉成立體角 PDF）。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				// pdf_omega = p_a * (dist*dist) / cos_theta_L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File: tracer_light_source.h / Function: sample_sphere_light_from_point</a:t>
            </a:r>
            <a:endParaRPr sz="24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6" name="Google Shape;146;g3a3f242b683_0_22"/>
          <p:cNvCxnSpPr/>
          <p:nvPr/>
        </p:nvCxnSpPr>
        <p:spPr>
          <a:xfrm>
            <a:off x="603250" y="0"/>
            <a:ext cx="0" cy="1124100"/>
          </a:xfrm>
          <a:prstGeom prst="straightConnector1">
            <a:avLst/>
          </a:prstGeom>
          <a:noFill/>
          <a:ln w="317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47" name="Google Shape;147;g3a3f242b683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4625" y="4969549"/>
            <a:ext cx="2486661" cy="11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a3f242b683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6306" y="4969556"/>
            <a:ext cx="3400758" cy="11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a3f242b683_0_2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03c85cf71_0_120"/>
          <p:cNvSpPr txBox="1"/>
          <p:nvPr/>
        </p:nvSpPr>
        <p:spPr>
          <a:xfrm>
            <a:off x="758300" y="378375"/>
            <a:ext cx="4986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03. Methods &amp; Techniques</a:t>
            </a:r>
            <a:endParaRPr sz="32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g3b03c85cf71_0_120"/>
          <p:cNvSpPr txBox="1"/>
          <p:nvPr/>
        </p:nvSpPr>
        <p:spPr>
          <a:xfrm>
            <a:off x="758300" y="1300250"/>
            <a:ext cx="11276400" cy="44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Multiple Importance Sampling (MIS)</a:t>
            </a:r>
            <a:endParaRPr sz="2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3. Sampling from BSDF (材質採樣)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1445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Concept：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144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144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144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144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Lambert cosine hemisphere: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</a:t>
            </a:r>
            <a:r>
              <a:rPr lang="en-US" sz="2600" i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diffuse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surfaces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Phong Lighting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For </a:t>
            </a:r>
            <a:r>
              <a:rPr lang="en-US" sz="2600" i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specular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surfaces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144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&gt;&gt; 最後回傳「混合 PDF」（MIS 需要）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7" name="Google Shape;157;g3b03c85cf71_0_120"/>
          <p:cNvCxnSpPr/>
          <p:nvPr/>
        </p:nvCxnSpPr>
        <p:spPr>
          <a:xfrm>
            <a:off x="603250" y="0"/>
            <a:ext cx="0" cy="1124100"/>
          </a:xfrm>
          <a:prstGeom prst="straightConnector1">
            <a:avLst/>
          </a:prstGeom>
          <a:noFill/>
          <a:ln w="317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8" name="Google Shape;158;g3b03c85cf71_0_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11428" y="3987625"/>
            <a:ext cx="2923275" cy="2624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b03c85cf71_0_1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6200" y="2563450"/>
            <a:ext cx="6910975" cy="155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b03c85cf71_0_120"/>
          <p:cNvSpPr txBox="1"/>
          <p:nvPr/>
        </p:nvSpPr>
        <p:spPr>
          <a:xfrm>
            <a:off x="4068300" y="6457650"/>
            <a:ext cx="80331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https://physics.stackexchange.com/questions/95169/why-does-lambertian-surface-reflection-result-in-uniform-radiance-measured-from</a:t>
            </a:r>
            <a:endParaRPr sz="1100"/>
          </a:p>
        </p:txBody>
      </p:sp>
      <p:sp>
        <p:nvSpPr>
          <p:cNvPr id="161" name="Google Shape;161;g3b03c85cf71_0_12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70e190ef8_0_31"/>
          <p:cNvSpPr txBox="1"/>
          <p:nvPr/>
        </p:nvSpPr>
        <p:spPr>
          <a:xfrm>
            <a:off x="594100" y="1846875"/>
            <a:ext cx="10810200" cy="48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Lambert: 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Phong: 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混合pdf計算:  p(brdf) = pd * pdf_diff + ps * pdf_spec;</a:t>
            </a:r>
            <a:endParaRPr sz="2400"/>
          </a:p>
        </p:txBody>
      </p:sp>
      <p:pic>
        <p:nvPicPr>
          <p:cNvPr id="168" name="Google Shape;168;g3a70e190ef8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1325" y="1485300"/>
            <a:ext cx="3185025" cy="106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a70e190ef8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9775" y="2673425"/>
            <a:ext cx="3366725" cy="87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a70e190ef8_0_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100" y="423625"/>
            <a:ext cx="4419531" cy="106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a70e190ef8_0_3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03c85cf71_0_145"/>
          <p:cNvSpPr txBox="1"/>
          <p:nvPr/>
        </p:nvSpPr>
        <p:spPr>
          <a:xfrm>
            <a:off x="758300" y="378375"/>
            <a:ext cx="5727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03. Methods &amp; Techniques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g3b03c85cf71_0_145"/>
          <p:cNvSpPr txBox="1"/>
          <p:nvPr/>
        </p:nvSpPr>
        <p:spPr>
          <a:xfrm>
            <a:off x="758300" y="1226700"/>
            <a:ext cx="11216100" cy="56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Bounding Volume Hierarchy (BVH) Acceleration</a:t>
            </a:r>
            <a:endParaRPr sz="2600"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1. Construction:</a:t>
            </a:r>
            <a:endParaRPr sz="2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(0) 建構 </a:t>
            </a:r>
            <a:r>
              <a:rPr lang="en-US" sz="2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Triangle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的 bounding box。</a:t>
            </a:r>
            <a:endParaRPr sz="2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(1) 建立 node、</a:t>
            </a:r>
            <a:r>
              <a:rPr lang="en-US" sz="2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計算整段 bounds + centroid(質心) bounds (界線)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(2) 決定是否當 leaf。 (n &lt;= 4 直接當leaf)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(3) 選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centroid_bounds 最長軸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切割 (切中點)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(4) 分區：centroid &lt; mid 的丟到左半, else 右半。不能分則當成 leaf 。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(5) Recursive 建構左右子樹 until 不能再建了(都剩 leaf 了)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BVH Traversal:  </a:t>
            </a:r>
            <a:endParaRPr sz="2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AutoNum type="arabicParenBoth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檢查 hit，if miss 就跳過整個 subtree 。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AutoNum type="arabicParenBoth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是 leaf：逐一hit triangle並記錄 closest_t (最靠近的交點)。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AutoNum type="arabicParenBoth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不是 leaf: 遞迴找左/右子樹。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File: </a:t>
            </a:r>
            <a:r>
              <a:rPr lang="en-US" sz="2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Speed_up.h -&gt; bvh_build_node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9" name="Google Shape;179;g3b03c85cf71_0_145"/>
          <p:cNvCxnSpPr/>
          <p:nvPr/>
        </p:nvCxnSpPr>
        <p:spPr>
          <a:xfrm>
            <a:off x="603250" y="0"/>
            <a:ext cx="0" cy="1124100"/>
          </a:xfrm>
          <a:prstGeom prst="straightConnector1">
            <a:avLst/>
          </a:prstGeom>
          <a:noFill/>
          <a:ln w="317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0" name="Google Shape;180;g3b03c85cf71_0_14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71408b706_0_13"/>
          <p:cNvSpPr txBox="1"/>
          <p:nvPr/>
        </p:nvSpPr>
        <p:spPr>
          <a:xfrm>
            <a:off x="422675" y="560050"/>
            <a:ext cx="4195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每個 triangle 的 centroid：</a:t>
            </a:r>
            <a:endParaRPr sz="2600"/>
          </a:p>
        </p:txBody>
      </p:sp>
      <p:pic>
        <p:nvPicPr>
          <p:cNvPr id="187" name="Google Shape;187;g3a71408b706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4500" y="360838"/>
            <a:ext cx="3307875" cy="98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a71408b706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400" y="1517833"/>
            <a:ext cx="5097425" cy="9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a71408b706_0_13"/>
          <p:cNvSpPr txBox="1"/>
          <p:nvPr/>
        </p:nvSpPr>
        <p:spPr>
          <a:xfrm>
            <a:off x="929900" y="3170100"/>
            <a:ext cx="5410200" cy="9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ray-AABB implied but will not mention in the presentation.</a:t>
            </a:r>
            <a:endParaRPr sz="2400"/>
          </a:p>
        </p:txBody>
      </p:sp>
      <p:pic>
        <p:nvPicPr>
          <p:cNvPr id="190" name="Google Shape;190;g3a71408b706_0_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0" y="2848238"/>
            <a:ext cx="5086350" cy="12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a71408b706_0_1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03c85cf71_0_167"/>
          <p:cNvSpPr txBox="1"/>
          <p:nvPr/>
        </p:nvSpPr>
        <p:spPr>
          <a:xfrm>
            <a:off x="5518493" y="440025"/>
            <a:ext cx="523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Rendering Quality (</a:t>
            </a:r>
            <a:r>
              <a:rPr lang="en-US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 Validation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1" i="0" u="none" strike="noStrike" cap="none">
              <a:solidFill>
                <a:srgbClr val="595959"/>
              </a:solidFill>
            </a:endParaRPr>
          </a:p>
        </p:txBody>
      </p:sp>
      <p:cxnSp>
        <p:nvCxnSpPr>
          <p:cNvPr id="198" name="Google Shape;198;g3b03c85cf71_0_167"/>
          <p:cNvCxnSpPr/>
          <p:nvPr/>
        </p:nvCxnSpPr>
        <p:spPr>
          <a:xfrm>
            <a:off x="603250" y="0"/>
            <a:ext cx="0" cy="1124100"/>
          </a:xfrm>
          <a:prstGeom prst="straightConnector1">
            <a:avLst/>
          </a:prstGeom>
          <a:noFill/>
          <a:ln w="31750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199" name="Google Shape;199;g3b03c85cf71_0_167"/>
          <p:cNvGraphicFramePr/>
          <p:nvPr/>
        </p:nvGraphicFramePr>
        <p:xfrm>
          <a:off x="758300" y="120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{52C2F1EF-C6B2-4788-BCC3-3FE57DCEA221}</a:tableStyleId>
              </a:tblPr>
              <a:tblGrid>
                <a:gridCol w="237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Light Sampling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Only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US" sz="2000" u="sng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DF Sampling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only</a:t>
                      </a:r>
                      <a:endParaRPr sz="2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          </a:ext>
                          </a:extLst>
                        </a:rPr>
                        <a:t>note</a:t>
                      </a:r>
                      <a:endParaRPr sz="2400">
                        <a:solidFill>
                          <a:srgbClr val="66666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150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(圖)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66666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(圖)</a:t>
                      </a:r>
                      <a:endParaRPr sz="2400">
                        <a:solidFill>
                          <a:srgbClr val="66666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342900" lvl="0" indent="-2413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Times New Roman"/>
                        <a:buChar char="●"/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Light Only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：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Reduces noise on </a:t>
                      </a:r>
                      <a:r>
                        <a:rPr lang="en-US" sz="2000" b="1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diffuse surfaces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but may create bright spots</a:t>
                      </a:r>
                      <a:r>
                        <a:rPr lang="en-US" sz="2000">
                          <a:solidFill>
                            <a:srgbClr val="9999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("fireflies") 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 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noise on glossy/specular surfaces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42900" lvl="0" indent="-2413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Times New Roman"/>
                        <a:buChar char="●"/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BRDF Only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：Works 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well for </a:t>
                      </a:r>
                      <a:r>
                        <a:rPr lang="en-US" sz="2000" b="1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high-gloss materials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but produces significant 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noise for diffuse surfaces or small lights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1950">
                <a:tc vMerge="1">
                  <a:txBody>
                    <a:bodyPr/>
                    <a:lstStyle/>
                    <a:p>
                      <a:endParaRPr lang="en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 </a:t>
                      </a:r>
                      <a:r>
                        <a:rPr lang="en-US" sz="2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Weights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Visualization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b="1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 Combined</a:t>
                      </a:r>
                      <a:endParaRPr sz="2000" b="1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          </a:ext>
                          </a:extLst>
                        </a:rPr>
                        <a:t>note</a:t>
                      </a:r>
                      <a:endParaRPr sz="2400">
                        <a:solidFill>
                          <a:srgbClr val="66666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(圖)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(圖)</a:t>
                      </a:r>
                      <a:endParaRPr sz="2400">
                        <a:solidFill>
                          <a:srgbClr val="66666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2413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Char char="●"/>
                      </a:pPr>
                      <a:r>
                        <a:rPr lang="en-US" sz="2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 Weights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Visualization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：A 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diagnostic image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showing where each 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strategy dominates.</a:t>
                      </a:r>
                      <a:endParaRPr sz="20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Red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BRDF heavy, </a:t>
                      </a:r>
                      <a:r>
                        <a:rPr lang="en-US" sz="1800">
                          <a:solidFill>
                            <a:srgbClr val="38761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Green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Light heavy)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42900" lvl="0" indent="-2413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Char char="●"/>
                      </a:pPr>
                      <a:r>
                        <a:rPr lang="en-US" sz="2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 Combined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：Combines the best of both worlds, resulting in a 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smooth image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across both diffuse and specular regions.</a:t>
                      </a:r>
                      <a:endParaRPr sz="2400">
                        <a:solidFill>
                          <a:srgbClr val="66666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00" name="Google Shape;200;g3b03c85cf71_0_167" title="AnyConv.com__AdvCG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550" y="1802275"/>
            <a:ext cx="2163650" cy="216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b03c85cf71_0_167" title="AnyConv.com__AdvCG_bsdf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1000" y="1802275"/>
            <a:ext cx="2163650" cy="216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b03c85cf71_0_167" title="AnyConv.com__AdvCG_mi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01000" y="4643275"/>
            <a:ext cx="2163650" cy="216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b03c85cf71_0_167" title="AnyConv.com__AdvCG_mis_weigh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5550" y="4643275"/>
            <a:ext cx="2163650" cy="2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b03c85cf71_0_167"/>
          <p:cNvSpPr txBox="1"/>
          <p:nvPr/>
        </p:nvSpPr>
        <p:spPr>
          <a:xfrm>
            <a:off x="758300" y="378375"/>
            <a:ext cx="4644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04. Results &amp; Performance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g3b03c85cf71_0_16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1" name="Google Shape;211;g3b03c85cf71_0_44"/>
          <p:cNvGraphicFramePr/>
          <p:nvPr/>
        </p:nvGraphicFramePr>
        <p:xfrm>
          <a:off x="758300" y="120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{52C2F1EF-C6B2-4788-BCC3-3FE57DCEA221}</a:tableStyleId>
              </a:tblPr>
              <a:tblGrid>
                <a:gridCol w="237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Light Sampling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Only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US" sz="2000" u="sng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DF Sampling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only</a:t>
                      </a:r>
                      <a:endParaRPr sz="2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          </a:ext>
                          </a:extLst>
                        </a:rPr>
                        <a:t>note</a:t>
                      </a:r>
                      <a:endParaRPr sz="2400">
                        <a:solidFill>
                          <a:srgbClr val="66666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150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(圖)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66666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(圖)</a:t>
                      </a:r>
                      <a:endParaRPr sz="2400">
                        <a:solidFill>
                          <a:srgbClr val="66666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Char char="●"/>
                      </a:pPr>
                      <a:r>
                        <a:rPr lang="en-US" sz="2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Light Only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：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Reduces noise on </a:t>
                      </a:r>
                      <a:r>
                        <a:rPr lang="en-US" sz="2000" b="1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diffuse surfaces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but may create bright spots</a:t>
                      </a:r>
                      <a:r>
                        <a:rPr lang="en-US" sz="2000">
                          <a:solidFill>
                            <a:srgbClr val="9999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("fireflies")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 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noise on glossy/specular surfaces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Char char="●"/>
                      </a:pPr>
                      <a:r>
                        <a:rPr lang="en-US" sz="2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BRDF Only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：Works 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well for </a:t>
                      </a:r>
                      <a:r>
                        <a:rPr lang="en-US" sz="2000" b="1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high-gloss materials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but produces significant 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noise for diffuse surfaces or small lights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2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1950">
                <a:tc vMerge="1">
                  <a:txBody>
                    <a:bodyPr/>
                    <a:lstStyle/>
                    <a:p>
                      <a:endParaRPr lang="en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 </a:t>
                      </a:r>
                      <a:r>
                        <a:rPr lang="en-US" sz="2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Weights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Visualization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b="1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 Combined</a:t>
                      </a:r>
                      <a:endParaRPr sz="2000" b="1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"/>
                            </a:ext>
                          </a:extLst>
                        </a:rPr>
                        <a:t>note</a:t>
                      </a:r>
                      <a:endParaRPr sz="2400">
                        <a:solidFill>
                          <a:srgbClr val="66666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(圖)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(圖)</a:t>
                      </a:r>
                      <a:endParaRPr sz="2400">
                        <a:solidFill>
                          <a:srgbClr val="66666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2413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Char char="●"/>
                      </a:pPr>
                      <a:r>
                        <a:rPr lang="en-US" sz="2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 Weights 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Visualization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：A 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diagnostic image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showing where each 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strategy dominates.</a:t>
                      </a:r>
                      <a:endParaRPr sz="20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Red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BRDF heavy, </a:t>
                      </a:r>
                      <a:r>
                        <a:rPr lang="en-US" sz="1800">
                          <a:solidFill>
                            <a:srgbClr val="38761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Green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Light heavy)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42900" lvl="0" indent="-2413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Char char="●"/>
                      </a:pPr>
                      <a:r>
                        <a:rPr lang="en-US" sz="2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 Combined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：Combines the best of both worlds, resulting in a </a:t>
                      </a:r>
                      <a:r>
                        <a:rPr lang="en-US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smooth image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across both diffuse and specular regions.</a:t>
                      </a:r>
                      <a:endParaRPr sz="2400">
                        <a:solidFill>
                          <a:srgbClr val="66666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12" name="Google Shape;212;g3b03c85cf71_0_44"/>
          <p:cNvCxnSpPr/>
          <p:nvPr/>
        </p:nvCxnSpPr>
        <p:spPr>
          <a:xfrm>
            <a:off x="603250" y="0"/>
            <a:ext cx="0" cy="1124100"/>
          </a:xfrm>
          <a:prstGeom prst="straightConnector1">
            <a:avLst/>
          </a:prstGeom>
          <a:noFill/>
          <a:ln w="31750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13" name="Google Shape;213;g3b03c85cf71_0_44"/>
          <p:cNvGrpSpPr/>
          <p:nvPr/>
        </p:nvGrpSpPr>
        <p:grpSpPr>
          <a:xfrm>
            <a:off x="865300" y="1802275"/>
            <a:ext cx="2163650" cy="5004650"/>
            <a:chOff x="865300" y="1802275"/>
            <a:chExt cx="2163650" cy="5004650"/>
          </a:xfrm>
        </p:grpSpPr>
        <p:pic>
          <p:nvPicPr>
            <p:cNvPr id="214" name="Google Shape;214;g3b03c85cf71_0_44" title="AnyConv.com__AdvCG_mis_weigh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5300" y="4643275"/>
              <a:ext cx="2163650" cy="2163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g3b03c85cf71_0_44" title="AnyConv.com__AdvCG_light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65300" y="1802275"/>
              <a:ext cx="2163650" cy="2163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6" name="Google Shape;216;g3b03c85cf71_0_44"/>
          <p:cNvGrpSpPr/>
          <p:nvPr/>
        </p:nvGrpSpPr>
        <p:grpSpPr>
          <a:xfrm>
            <a:off x="3317675" y="1802275"/>
            <a:ext cx="2163650" cy="5004650"/>
            <a:chOff x="3317675" y="1802275"/>
            <a:chExt cx="2163650" cy="5004650"/>
          </a:xfrm>
        </p:grpSpPr>
        <p:pic>
          <p:nvPicPr>
            <p:cNvPr id="217" name="Google Shape;217;g3b03c85cf71_0_44" title="AnyConv.com__AdvCG_bsdf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317675" y="1802275"/>
              <a:ext cx="2163650" cy="2163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g3b03c85cf71_0_44" title="AnyConv.com__AdvCG_mis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317675" y="4643275"/>
              <a:ext cx="2163650" cy="2163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" name="Google Shape;219;g3b03c85cf71_0_44"/>
          <p:cNvSpPr txBox="1"/>
          <p:nvPr/>
        </p:nvSpPr>
        <p:spPr>
          <a:xfrm>
            <a:off x="758300" y="378375"/>
            <a:ext cx="4644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04. Results &amp; Performance</a:t>
            </a:r>
            <a:endParaRPr sz="32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g3b03c85cf71_0_44"/>
          <p:cNvSpPr txBox="1"/>
          <p:nvPr/>
        </p:nvSpPr>
        <p:spPr>
          <a:xfrm>
            <a:off x="5518493" y="440025"/>
            <a:ext cx="523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v.2 MIS效果更明顯</a:t>
            </a:r>
            <a:endParaRPr sz="2400" b="1" i="0" u="none" strike="noStrike" cap="none">
              <a:solidFill>
                <a:srgbClr val="595959"/>
              </a:solidFill>
            </a:endParaRPr>
          </a:p>
        </p:txBody>
      </p:sp>
      <p:grpSp>
        <p:nvGrpSpPr>
          <p:cNvPr id="221" name="Google Shape;221;g3b03c85cf71_0_44"/>
          <p:cNvGrpSpPr/>
          <p:nvPr/>
        </p:nvGrpSpPr>
        <p:grpSpPr>
          <a:xfrm>
            <a:off x="1011175" y="2635300"/>
            <a:ext cx="2945900" cy="4222700"/>
            <a:chOff x="1011175" y="2635300"/>
            <a:chExt cx="2945900" cy="4222700"/>
          </a:xfrm>
        </p:grpSpPr>
        <p:grpSp>
          <p:nvGrpSpPr>
            <p:cNvPr id="222" name="Google Shape;222;g3b03c85cf71_0_44"/>
            <p:cNvGrpSpPr/>
            <p:nvPr/>
          </p:nvGrpSpPr>
          <p:grpSpPr>
            <a:xfrm>
              <a:off x="1011175" y="2635300"/>
              <a:ext cx="2945900" cy="4222700"/>
              <a:chOff x="1011175" y="2635300"/>
              <a:chExt cx="2945900" cy="4222700"/>
            </a:xfrm>
          </p:grpSpPr>
          <p:grpSp>
            <p:nvGrpSpPr>
              <p:cNvPr id="223" name="Google Shape;223;g3b03c85cf71_0_44"/>
              <p:cNvGrpSpPr/>
              <p:nvPr/>
            </p:nvGrpSpPr>
            <p:grpSpPr>
              <a:xfrm>
                <a:off x="1011175" y="3220300"/>
                <a:ext cx="2017775" cy="3637700"/>
                <a:chOff x="1011175" y="3220300"/>
                <a:chExt cx="2017775" cy="3637700"/>
              </a:xfrm>
            </p:grpSpPr>
            <p:grpSp>
              <p:nvGrpSpPr>
                <p:cNvPr id="224" name="Google Shape;224;g3b03c85cf71_0_44"/>
                <p:cNvGrpSpPr/>
                <p:nvPr/>
              </p:nvGrpSpPr>
              <p:grpSpPr>
                <a:xfrm>
                  <a:off x="1011175" y="5231200"/>
                  <a:ext cx="2017775" cy="1626800"/>
                  <a:chOff x="1011175" y="5231200"/>
                  <a:chExt cx="2017775" cy="1626800"/>
                </a:xfrm>
              </p:grpSpPr>
              <p:sp>
                <p:nvSpPr>
                  <p:cNvPr id="225" name="Google Shape;225;g3b03c85cf71_0_44"/>
                  <p:cNvSpPr/>
                  <p:nvPr/>
                </p:nvSpPr>
                <p:spPr>
                  <a:xfrm>
                    <a:off x="2491650" y="5231200"/>
                    <a:ext cx="537300" cy="967500"/>
                  </a:xfrm>
                  <a:prstGeom prst="flowChartConnector">
                    <a:avLst/>
                  </a:prstGeom>
                  <a:noFill/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" name="Google Shape;226;g3b03c85cf71_0_44"/>
                  <p:cNvSpPr/>
                  <p:nvPr/>
                </p:nvSpPr>
                <p:spPr>
                  <a:xfrm>
                    <a:off x="1011175" y="5525350"/>
                    <a:ext cx="319200" cy="379200"/>
                  </a:xfrm>
                  <a:prstGeom prst="flowChartConnector">
                    <a:avLst/>
                  </a:prstGeom>
                  <a:noFill/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" name="Google Shape;227;g3b03c85cf71_0_44"/>
                  <p:cNvSpPr/>
                  <p:nvPr/>
                </p:nvSpPr>
                <p:spPr>
                  <a:xfrm>
                    <a:off x="2172450" y="6622200"/>
                    <a:ext cx="745500" cy="235800"/>
                  </a:xfrm>
                  <a:prstGeom prst="flowChartConnector">
                    <a:avLst/>
                  </a:prstGeom>
                  <a:noFill/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cxnSp>
              <p:nvCxnSpPr>
                <p:cNvPr id="228" name="Google Shape;228;g3b03c85cf71_0_44"/>
                <p:cNvCxnSpPr>
                  <a:stCxn id="225" idx="0"/>
                </p:cNvCxnSpPr>
                <p:nvPr/>
              </p:nvCxnSpPr>
              <p:spPr>
                <a:xfrm rot="10800000">
                  <a:off x="2736600" y="3220300"/>
                  <a:ext cx="23700" cy="2010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229" name="Google Shape;229;g3b03c85cf71_0_44"/>
              <p:cNvSpPr txBox="1"/>
              <p:nvPr/>
            </p:nvSpPr>
            <p:spPr>
              <a:xfrm>
                <a:off x="2650875" y="3841475"/>
                <a:ext cx="1306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fireflies</a:t>
                </a:r>
                <a:endParaRPr sz="18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0" name="Google Shape;230;g3b03c85cf71_0_44"/>
              <p:cNvSpPr/>
              <p:nvPr/>
            </p:nvSpPr>
            <p:spPr>
              <a:xfrm>
                <a:off x="2502525" y="2635300"/>
                <a:ext cx="461100" cy="585000"/>
              </a:xfrm>
              <a:prstGeom prst="flowChartConnector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1" name="Google Shape;231;g3b03c85cf71_0_44"/>
            <p:cNvSpPr/>
            <p:nvPr/>
          </p:nvSpPr>
          <p:spPr>
            <a:xfrm>
              <a:off x="2329175" y="3711225"/>
              <a:ext cx="461100" cy="369300"/>
            </a:xfrm>
            <a:prstGeom prst="flowChartConnector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" name="Google Shape;232;g3b03c85cf71_0_4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03c85cf71_0_32"/>
          <p:cNvSpPr txBox="1"/>
          <p:nvPr/>
        </p:nvSpPr>
        <p:spPr>
          <a:xfrm>
            <a:off x="5403211" y="440021"/>
            <a:ext cx="328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v.3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動圖展示</a:t>
            </a:r>
            <a:endParaRPr sz="2400" i="0" u="none" strike="noStrike" cap="none">
              <a:solidFill>
                <a:srgbClr val="595959"/>
              </a:solidFill>
            </a:endParaRPr>
          </a:p>
        </p:txBody>
      </p:sp>
      <p:cxnSp>
        <p:nvCxnSpPr>
          <p:cNvPr id="239" name="Google Shape;239;g3b03c85cf71_0_32"/>
          <p:cNvCxnSpPr/>
          <p:nvPr/>
        </p:nvCxnSpPr>
        <p:spPr>
          <a:xfrm>
            <a:off x="603250" y="0"/>
            <a:ext cx="0" cy="1124100"/>
          </a:xfrm>
          <a:prstGeom prst="straightConnector1">
            <a:avLst/>
          </a:prstGeom>
          <a:noFill/>
          <a:ln w="31750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40" name="Google Shape;240;g3b03c85cf71_0_32"/>
          <p:cNvGrpSpPr/>
          <p:nvPr/>
        </p:nvGrpSpPr>
        <p:grpSpPr>
          <a:xfrm>
            <a:off x="153285" y="1734815"/>
            <a:ext cx="11885418" cy="3865854"/>
            <a:chOff x="603256" y="1967417"/>
            <a:chExt cx="11588746" cy="3769359"/>
          </a:xfrm>
        </p:grpSpPr>
        <p:pic>
          <p:nvPicPr>
            <p:cNvPr id="241" name="Google Shape;241;g3b03c85cf71_0_32" title="result_animation.gif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30086" y="1967417"/>
              <a:ext cx="3769352" cy="3769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g3b03c85cf71_0_32" title="result_animation.gif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422650" y="1967418"/>
              <a:ext cx="3769352" cy="3769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g3b03c85cf71_0_32"/>
            <p:cNvPicPr preferRelativeResize="0"/>
            <p:nvPr/>
          </p:nvPicPr>
          <p:blipFill rotWithShape="1">
            <a:blip r:embed="rId5">
              <a:alphaModFix/>
            </a:blip>
            <a:srcRect t="744"/>
            <a:stretch/>
          </p:blipFill>
          <p:spPr>
            <a:xfrm>
              <a:off x="603256" y="1967425"/>
              <a:ext cx="3803629" cy="3769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" name="Google Shape;244;g3b03c85cf71_0_32"/>
          <p:cNvSpPr txBox="1"/>
          <p:nvPr/>
        </p:nvSpPr>
        <p:spPr>
          <a:xfrm>
            <a:off x="1319100" y="5810250"/>
            <a:ext cx="98061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▲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隨著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光源本身&amp;反射材質物體移動，光影渲染應有對應的合理變化。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g3b03c85cf71_0_32"/>
          <p:cNvSpPr txBox="1"/>
          <p:nvPr/>
        </p:nvSpPr>
        <p:spPr>
          <a:xfrm>
            <a:off x="758300" y="378375"/>
            <a:ext cx="4644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04. Results &amp; Performance</a:t>
            </a:r>
            <a:endParaRPr sz="32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g3b03c85cf71_0_3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" name="Google Shape;252;g3a3f242b683_0_59"/>
          <p:cNvCxnSpPr/>
          <p:nvPr/>
        </p:nvCxnSpPr>
        <p:spPr>
          <a:xfrm>
            <a:off x="603250" y="0"/>
            <a:ext cx="0" cy="1124100"/>
          </a:xfrm>
          <a:prstGeom prst="straightConnector1">
            <a:avLst/>
          </a:prstGeom>
          <a:noFill/>
          <a:ln w="31750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3" name="Google Shape;253;g3a3f242b683_0_59"/>
          <p:cNvSpPr txBox="1"/>
          <p:nvPr/>
        </p:nvSpPr>
        <p:spPr>
          <a:xfrm>
            <a:off x="5517776" y="440025"/>
            <a:ext cx="63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Acceleration Performance (BVH Benchmark)</a:t>
            </a:r>
            <a:endParaRPr sz="2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" name="Google Shape;254;g3a3f242b683_0_59"/>
          <p:cNvGrpSpPr/>
          <p:nvPr/>
        </p:nvGrpSpPr>
        <p:grpSpPr>
          <a:xfrm>
            <a:off x="758293" y="1124109"/>
            <a:ext cx="9062351" cy="5886945"/>
            <a:chOff x="3895525" y="963350"/>
            <a:chExt cx="9279491" cy="6028000"/>
          </a:xfrm>
        </p:grpSpPr>
        <p:grpSp>
          <p:nvGrpSpPr>
            <p:cNvPr id="255" name="Google Shape;255;g3a3f242b683_0_59"/>
            <p:cNvGrpSpPr/>
            <p:nvPr/>
          </p:nvGrpSpPr>
          <p:grpSpPr>
            <a:xfrm>
              <a:off x="3895525" y="963350"/>
              <a:ext cx="9279491" cy="6028000"/>
              <a:chOff x="3895525" y="963350"/>
              <a:chExt cx="9279491" cy="6028000"/>
            </a:xfrm>
          </p:grpSpPr>
          <p:pic>
            <p:nvPicPr>
              <p:cNvPr id="256" name="Google Shape;256;g3a3f242b683_0_59" title="newplot (5).png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895525" y="963350"/>
                <a:ext cx="6028000" cy="60280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57" name="Google Shape;257;g3a3f242b683_0_59"/>
              <p:cNvGrpSpPr/>
              <p:nvPr/>
            </p:nvGrpSpPr>
            <p:grpSpPr>
              <a:xfrm>
                <a:off x="8925816" y="5341233"/>
                <a:ext cx="4249200" cy="1416300"/>
                <a:chOff x="8920516" y="5354933"/>
                <a:chExt cx="4249200" cy="1416300"/>
              </a:xfrm>
            </p:grpSpPr>
            <p:sp>
              <p:nvSpPr>
                <p:cNvPr id="258" name="Google Shape;258;g3a3f242b683_0_59"/>
                <p:cNvSpPr txBox="1"/>
                <p:nvPr/>
              </p:nvSpPr>
              <p:spPr>
                <a:xfrm>
                  <a:off x="10281616" y="5354933"/>
                  <a:ext cx="2888100" cy="1416300"/>
                </a:xfrm>
                <a:prstGeom prst="rect">
                  <a:avLst/>
                </a:prstGeom>
                <a:solidFill>
                  <a:srgbClr val="FFFFFF">
                    <a:alpha val="68990"/>
                  </a:srgbClr>
                </a:solidFill>
                <a:ln w="9300" cap="flat" cmpd="sng">
                  <a:solidFill>
                    <a:srgbClr val="D9D9D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9300" tIns="89300" rIns="89300" bIns="89300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562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｜Color Meaning：</a:t>
                  </a:r>
                  <a:endParaRPr sz="1562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428625" lvl="0" indent="-175427" algn="l" rtl="0">
                    <a:spcBef>
                      <a:spcPts val="0"/>
                    </a:spcBef>
                    <a:spcAft>
                      <a:spcPts val="0"/>
                    </a:spcAft>
                    <a:buSzPts val="1563"/>
                    <a:buFont typeface="Times New Roman"/>
                    <a:buChar char="●"/>
                  </a:pPr>
                  <a:r>
                    <a:rPr lang="en-US" sz="1562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Black：差異極小或為 0</a:t>
                  </a:r>
                  <a:endParaRPr sz="1562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428625" lvl="0" indent="-175427" algn="l" rtl="0">
                    <a:spcBef>
                      <a:spcPts val="0"/>
                    </a:spcBef>
                    <a:spcAft>
                      <a:spcPts val="0"/>
                    </a:spcAft>
                    <a:buSzPts val="1563"/>
                    <a:buFont typeface="Times New Roman"/>
                    <a:buChar char="●"/>
                  </a:pPr>
                  <a:r>
                    <a:rPr lang="en-US" sz="1562">
                      <a:solidFill>
                        <a:srgbClr val="98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Red</a:t>
                  </a:r>
                  <a:r>
                    <a:rPr lang="en-US" sz="1562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：微小差異</a:t>
                  </a:r>
                  <a:endParaRPr sz="1562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428625" lvl="0" indent="-175427" algn="l" rtl="0">
                    <a:spcBef>
                      <a:spcPts val="0"/>
                    </a:spcBef>
                    <a:spcAft>
                      <a:spcPts val="0"/>
                    </a:spcAft>
                    <a:buSzPts val="1563"/>
                    <a:buFont typeface="Times New Roman"/>
                    <a:buChar char="●"/>
                  </a:pPr>
                  <a:r>
                    <a:rPr lang="en-US" sz="1562">
                      <a:solidFill>
                        <a:srgbClr val="B45F06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Orange</a:t>
                  </a:r>
                  <a:r>
                    <a:rPr lang="en-US" sz="1562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/</a:t>
                  </a:r>
                  <a:r>
                    <a:rPr lang="en-US" sz="1562">
                      <a:solidFill>
                        <a:srgbClr val="FFD966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Yellow</a:t>
                  </a:r>
                  <a:r>
                    <a:rPr lang="en-US" sz="1562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：差異中等</a:t>
                  </a:r>
                  <a:endParaRPr sz="1562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428625" lvl="0" indent="-175427" algn="l" rtl="0">
                    <a:spcBef>
                      <a:spcPts val="0"/>
                    </a:spcBef>
                    <a:spcAft>
                      <a:spcPts val="0"/>
                    </a:spcAft>
                    <a:buSzPts val="1563"/>
                    <a:buFont typeface="Times New Roman"/>
                    <a:buChar char="●"/>
                  </a:pPr>
                  <a:r>
                    <a:rPr lang="en-US" sz="1562">
                      <a:solidFill>
                        <a:srgbClr val="FFFFFF"/>
                      </a:solidFill>
                      <a:highlight>
                        <a:srgbClr val="B7B7B7"/>
                      </a:highlight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White</a:t>
                  </a:r>
                  <a:r>
                    <a:rPr lang="en-US" sz="1562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：差異最大</a:t>
                  </a:r>
                  <a:endParaRPr sz="1562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259" name="Google Shape;259;g3a3f242b683_0_59"/>
                <p:cNvCxnSpPr>
                  <a:stCxn id="258" idx="1"/>
                </p:cNvCxnSpPr>
                <p:nvPr/>
              </p:nvCxnSpPr>
              <p:spPr>
                <a:xfrm rot="10800000">
                  <a:off x="8920516" y="6054983"/>
                  <a:ext cx="1361100" cy="8100"/>
                </a:xfrm>
                <a:prstGeom prst="straightConnector1">
                  <a:avLst/>
                </a:prstGeom>
                <a:noFill/>
                <a:ln w="9300" cap="flat" cmpd="sng">
                  <a:solidFill>
                    <a:srgbClr val="999999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60" name="Google Shape;260;g3a3f242b683_0_59"/>
            <p:cNvGrpSpPr/>
            <p:nvPr/>
          </p:nvGrpSpPr>
          <p:grpSpPr>
            <a:xfrm>
              <a:off x="3997544" y="1890275"/>
              <a:ext cx="4771500" cy="4944332"/>
              <a:chOff x="3997544" y="1890275"/>
              <a:chExt cx="4771500" cy="4944332"/>
            </a:xfrm>
          </p:grpSpPr>
          <p:sp>
            <p:nvSpPr>
              <p:cNvPr id="261" name="Google Shape;261;g3a3f242b683_0_59"/>
              <p:cNvSpPr/>
              <p:nvPr/>
            </p:nvSpPr>
            <p:spPr>
              <a:xfrm>
                <a:off x="5248050" y="1890275"/>
                <a:ext cx="914400" cy="801000"/>
              </a:xfrm>
              <a:prstGeom prst="rect">
                <a:avLst/>
              </a:prstGeom>
              <a:noFill/>
              <a:ln w="93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300" tIns="89300" rIns="89300" bIns="893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67"/>
              </a:p>
            </p:txBody>
          </p:sp>
          <p:sp>
            <p:nvSpPr>
              <p:cNvPr id="262" name="Google Shape;262;g3a3f242b683_0_59"/>
              <p:cNvSpPr/>
              <p:nvPr/>
            </p:nvSpPr>
            <p:spPr>
              <a:xfrm>
                <a:off x="7284975" y="1890275"/>
                <a:ext cx="914400" cy="585000"/>
              </a:xfrm>
              <a:prstGeom prst="rect">
                <a:avLst/>
              </a:prstGeom>
              <a:noFill/>
              <a:ln w="93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300" tIns="89300" rIns="89300" bIns="893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67"/>
              </a:p>
            </p:txBody>
          </p:sp>
          <p:sp>
            <p:nvSpPr>
              <p:cNvPr id="263" name="Google Shape;263;g3a3f242b683_0_59"/>
              <p:cNvSpPr/>
              <p:nvPr/>
            </p:nvSpPr>
            <p:spPr>
              <a:xfrm>
                <a:off x="3997544" y="2762107"/>
                <a:ext cx="4771500" cy="4072500"/>
              </a:xfrm>
              <a:prstGeom prst="rect">
                <a:avLst/>
              </a:prstGeom>
              <a:noFill/>
              <a:ln w="93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300" tIns="89300" rIns="89300" bIns="893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67"/>
              </a:p>
            </p:txBody>
          </p:sp>
        </p:grpSp>
      </p:grpSp>
      <p:cxnSp>
        <p:nvCxnSpPr>
          <p:cNvPr id="264" name="Google Shape;264;g3a3f242b683_0_59"/>
          <p:cNvCxnSpPr>
            <a:stCxn id="262" idx="3"/>
            <a:endCxn id="265" idx="1"/>
          </p:cNvCxnSpPr>
          <p:nvPr/>
        </p:nvCxnSpPr>
        <p:spPr>
          <a:xfrm rot="10800000" flipH="1">
            <a:off x="4961433" y="2077100"/>
            <a:ext cx="2038800" cy="237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6" name="Google Shape;266;g3a3f242b683_0_59"/>
          <p:cNvSpPr txBox="1"/>
          <p:nvPr/>
        </p:nvSpPr>
        <p:spPr>
          <a:xfrm>
            <a:off x="9797150" y="1782725"/>
            <a:ext cx="2311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+ 物體數個(鏡頭後)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Speedup效能更明顯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7" name="Google Shape;267;g3a3f242b683_0_59"/>
          <p:cNvCxnSpPr>
            <a:stCxn id="263" idx="3"/>
            <a:endCxn id="268" idx="2"/>
          </p:cNvCxnSpPr>
          <p:nvPr/>
        </p:nvCxnSpPr>
        <p:spPr>
          <a:xfrm rot="10800000" flipH="1">
            <a:off x="5517772" y="4740977"/>
            <a:ext cx="1573800" cy="128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269" name="Google Shape;269;g3a3f242b683_0_59"/>
          <p:cNvGrpSpPr/>
          <p:nvPr/>
        </p:nvGrpSpPr>
        <p:grpSpPr>
          <a:xfrm>
            <a:off x="7000125" y="1124100"/>
            <a:ext cx="2797024" cy="4150130"/>
            <a:chOff x="7196675" y="1124100"/>
            <a:chExt cx="2797024" cy="4150130"/>
          </a:xfrm>
        </p:grpSpPr>
        <p:pic>
          <p:nvPicPr>
            <p:cNvPr id="265" name="Google Shape;265;g3a3f242b683_0_59" title="newplot (3).png"/>
            <p:cNvPicPr preferRelativeResize="0"/>
            <p:nvPr/>
          </p:nvPicPr>
          <p:blipFill rotWithShape="1">
            <a:blip r:embed="rId4">
              <a:alphaModFix/>
            </a:blip>
            <a:srcRect l="43063" r="14617" b="71164"/>
            <a:stretch/>
          </p:blipFill>
          <p:spPr>
            <a:xfrm>
              <a:off x="7196675" y="1124100"/>
              <a:ext cx="2797024" cy="19057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0" name="Google Shape;270;g3a3f242b683_0_59"/>
            <p:cNvGrpSpPr/>
            <p:nvPr/>
          </p:nvGrpSpPr>
          <p:grpSpPr>
            <a:xfrm>
              <a:off x="7196675" y="3164133"/>
              <a:ext cx="2797022" cy="2110097"/>
              <a:chOff x="557014" y="1124138"/>
              <a:chExt cx="8384359" cy="6325232"/>
            </a:xfrm>
          </p:grpSpPr>
          <p:pic>
            <p:nvPicPr>
              <p:cNvPr id="271" name="Google Shape;271;g3a3f242b683_0_59" title="newplot (4).png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57014" y="1124138"/>
                <a:ext cx="8384359" cy="632523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2" name="Google Shape;272;g3a3f242b683_0_59"/>
              <p:cNvSpPr txBox="1"/>
              <p:nvPr/>
            </p:nvSpPr>
            <p:spPr>
              <a:xfrm>
                <a:off x="5288736" y="5856878"/>
                <a:ext cx="2506500" cy="7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0475" tIns="30475" rIns="30475" bIns="3047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光源( = 0)</a:t>
                </a:r>
                <a:endParaRPr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68" name="Google Shape;268;g3a3f242b683_0_59"/>
            <p:cNvSpPr/>
            <p:nvPr/>
          </p:nvSpPr>
          <p:spPr>
            <a:xfrm>
              <a:off x="7288175" y="4369200"/>
              <a:ext cx="2494800" cy="743700"/>
            </a:xfrm>
            <a:prstGeom prst="flowChartConnector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" name="Google Shape;273;g3a3f242b683_0_59"/>
          <p:cNvSpPr txBox="1"/>
          <p:nvPr/>
        </p:nvSpPr>
        <p:spPr>
          <a:xfrm>
            <a:off x="9755750" y="3559675"/>
            <a:ext cx="2394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# 有紅/黃色噪點：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endParaRPr sz="1800" b="1" u="sng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Lossless Optimization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g3a3f242b683_0_59"/>
          <p:cNvSpPr txBox="1"/>
          <p:nvPr/>
        </p:nvSpPr>
        <p:spPr>
          <a:xfrm>
            <a:off x="758300" y="378375"/>
            <a:ext cx="4644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04. Results &amp; Performance</a:t>
            </a:r>
            <a:endParaRPr sz="32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g3a3f242b683_0_5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3f242b683_0_71"/>
          <p:cNvSpPr txBox="1"/>
          <p:nvPr/>
        </p:nvSpPr>
        <p:spPr>
          <a:xfrm>
            <a:off x="758300" y="378375"/>
            <a:ext cx="5272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05. Conclusion &amp; Discussion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g3a3f242b683_0_71"/>
          <p:cNvSpPr txBox="1"/>
          <p:nvPr/>
        </p:nvSpPr>
        <p:spPr>
          <a:xfrm>
            <a:off x="758300" y="1124100"/>
            <a:ext cx="11291700" cy="56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：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57250" marR="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AutoNum type="romanUcPeriod"/>
            </a:pPr>
            <a:r>
              <a:rPr lang="en-US" sz="2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project, we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successfully </a:t>
            </a:r>
            <a:r>
              <a:rPr lang="en-US" sz="2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a path tracer capable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rendering realistic images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using </a:t>
            </a:r>
            <a:r>
              <a:rPr lang="en-US" sz="2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ultiple </a:t>
            </a:r>
            <a:r>
              <a:rPr lang="en-US" sz="2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mportance </a:t>
            </a:r>
            <a:r>
              <a:rPr lang="en-US" sz="2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ampling.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57250" marR="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AutoNum type="romanUcPeriod"/>
            </a:pP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The comparison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between Light-only, BRDF-only, and MIS approaches clearly demonstrates that </a:t>
            </a:r>
            <a:r>
              <a:rPr lang="en-US" sz="26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</a:t>
            </a:r>
            <a:r>
              <a:rPr lang="en-US" sz="2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superior in robustness, handling various material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frequencies effectively.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57250" marR="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AutoNum type="romanUcPeriod"/>
            </a:pPr>
            <a:r>
              <a:rPr lang="en-US" sz="2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Furthermore, the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integration of BVH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proved to be a critical optimization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cutting rendering time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half in the benchmark tests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improvements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could include: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AutoNum type="romanUcPeriod"/>
            </a:pPr>
            <a:r>
              <a:rPr lang="en-US" sz="2600" u="sng">
                <a:latin typeface="Times New Roman"/>
                <a:ea typeface="Times New Roman"/>
                <a:cs typeface="Times New Roman"/>
                <a:sym typeface="Times New Roman"/>
              </a:rPr>
              <a:t>Advanced BVH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Implementing Surface Area Heuristic (SAH)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for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better tree construction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AutoNum type="romanUcPeriod"/>
            </a:pPr>
            <a:r>
              <a:rPr lang="en-US" sz="2600" u="sng">
                <a:latin typeface="Times New Roman"/>
                <a:ea typeface="Times New Roman"/>
                <a:cs typeface="Times New Roman"/>
                <a:sym typeface="Times New Roman"/>
              </a:rPr>
              <a:t>More Materials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: Adding support for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refraction (glass) or microfacet models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(Cook-Torrance)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3" name="Google Shape;283;g3a3f242b683_0_71"/>
          <p:cNvCxnSpPr/>
          <p:nvPr/>
        </p:nvCxnSpPr>
        <p:spPr>
          <a:xfrm>
            <a:off x="603250" y="0"/>
            <a:ext cx="0" cy="1124100"/>
          </a:xfrm>
          <a:prstGeom prst="straightConnector1">
            <a:avLst/>
          </a:prstGeom>
          <a:noFill/>
          <a:ln w="317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4" name="Google Shape;284;g3a3f242b683_0_7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3f242b683_0_91"/>
          <p:cNvSpPr txBox="1"/>
          <p:nvPr/>
        </p:nvSpPr>
        <p:spPr>
          <a:xfrm>
            <a:off x="758300" y="378375"/>
            <a:ext cx="5272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06. Appendix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g3a3f242b683_0_91"/>
          <p:cNvSpPr txBox="1"/>
          <p:nvPr/>
        </p:nvSpPr>
        <p:spPr>
          <a:xfrm>
            <a:off x="349500" y="1481675"/>
            <a:ext cx="11493000" cy="42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7155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4859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Veach, E. (1997). </a:t>
            </a:r>
            <a:r>
              <a:rPr lang="en-US" sz="2400" i="1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Robust Monte Carlo methods for light transport simulation</a:t>
            </a:r>
            <a:r>
              <a:rPr lang="en-US" sz="2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 Doctoraldissertation, DepartmentofComputerScience, StanfordUniversity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4859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CHAPTER 20: MULTIPLE IMPORTANCE SAMPLING 101, Anders Lindqvist, NVIDIA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4859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Raysect Multiple Importance Sampling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4859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Kajo C++ MIS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7155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Our Project Source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4859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Code：</a:t>
            </a:r>
            <a:r>
              <a:rPr lang="en-US" sz="24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SourceCode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</a:t>
            </a:r>
            <a:r>
              <a:rPr lang="en-US" sz="24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4859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Drive：</a:t>
            </a:r>
            <a:r>
              <a:rPr lang="en-US" sz="24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期末專題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2" name="Google Shape;292;g3a3f242b683_0_91"/>
          <p:cNvCxnSpPr/>
          <p:nvPr/>
        </p:nvCxnSpPr>
        <p:spPr>
          <a:xfrm>
            <a:off x="603250" y="0"/>
            <a:ext cx="0" cy="1124100"/>
          </a:xfrm>
          <a:prstGeom prst="straightConnector1">
            <a:avLst/>
          </a:prstGeom>
          <a:noFill/>
          <a:ln w="317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3" name="Google Shape;293;g3a3f242b683_0_9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03c85cf71_0_98"/>
          <p:cNvSpPr txBox="1"/>
          <p:nvPr/>
        </p:nvSpPr>
        <p:spPr>
          <a:xfrm>
            <a:off x="758300" y="378375"/>
            <a:ext cx="5272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Appendix</a:t>
            </a:r>
            <a:endParaRPr sz="32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g3b03c85cf71_0_98"/>
          <p:cNvSpPr txBox="1"/>
          <p:nvPr/>
        </p:nvSpPr>
        <p:spPr>
          <a:xfrm>
            <a:off x="349500" y="1375825"/>
            <a:ext cx="11594700" cy="3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7155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Reference Code Mapping （重點程式碼對照表）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4859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Main Loop: AdvCG_Final_MIS.cc (lines 142-260)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4859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MIS Logic: tracer_MIS.h (lines 33-84 evaluate_mis)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4859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BSDF Sampling: tracer_BSDF_sampling.h (lines 142-198 sample_brdf_direction)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4859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Light Sampling: tracer_light_source.h (lines 13-49 sample_sphere_light_from_point)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4859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BVH Build: Speed_up.h (lines 244-289 bvh_build_node)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1" name="Google Shape;301;g3b03c85cf71_0_98"/>
          <p:cNvCxnSpPr/>
          <p:nvPr/>
        </p:nvCxnSpPr>
        <p:spPr>
          <a:xfrm>
            <a:off x="603250" y="0"/>
            <a:ext cx="0" cy="1124100"/>
          </a:xfrm>
          <a:prstGeom prst="straightConnector1">
            <a:avLst/>
          </a:prstGeom>
          <a:noFill/>
          <a:ln w="317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2" name="Google Shape;302;g3b03c85cf71_0_9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537883"/>
            <a:ext cx="10972800" cy="5782237"/>
          </a:xfrm>
          <a:custGeom>
            <a:avLst/>
            <a:gdLst/>
            <a:ahLst/>
            <a:cxnLst/>
            <a:rect l="l" t="t" r="r" b="b"/>
            <a:pathLst>
              <a:path w="10972800" h="5782237" extrusionOk="0">
                <a:moveTo>
                  <a:pt x="0" y="0"/>
                </a:moveTo>
                <a:lnTo>
                  <a:pt x="10972800" y="0"/>
                </a:lnTo>
                <a:lnTo>
                  <a:pt x="10972800" y="5782237"/>
                </a:lnTo>
                <a:lnTo>
                  <a:pt x="0" y="578223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1240489" y="1183341"/>
            <a:ext cx="9768170" cy="449131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0" y="-674594"/>
            <a:ext cx="412376" cy="412376"/>
          </a:xfrm>
          <a:prstGeom prst="rect">
            <a:avLst/>
          </a:prstGeom>
          <a:solidFill>
            <a:srgbClr val="7A807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699247" y="-674594"/>
            <a:ext cx="412376" cy="412376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872703" y="3260628"/>
            <a:ext cx="44466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Thanks</a:t>
            </a:r>
            <a:endParaRPr sz="14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4666343" y="3660798"/>
            <a:ext cx="28593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14" name="Google Shape;314;p29"/>
          <p:cNvGrpSpPr/>
          <p:nvPr/>
        </p:nvGrpSpPr>
        <p:grpSpPr>
          <a:xfrm>
            <a:off x="4387034" y="3645364"/>
            <a:ext cx="3417933" cy="0"/>
            <a:chOff x="4348117" y="3845464"/>
            <a:chExt cx="3417933" cy="0"/>
          </a:xfrm>
        </p:grpSpPr>
        <p:cxnSp>
          <p:nvCxnSpPr>
            <p:cNvPr id="315" name="Google Shape;315;p29"/>
            <p:cNvCxnSpPr/>
            <p:nvPr/>
          </p:nvCxnSpPr>
          <p:spPr>
            <a:xfrm>
              <a:off x="7525657" y="3845464"/>
              <a:ext cx="240393" cy="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6" name="Google Shape;316;p29"/>
            <p:cNvCxnSpPr/>
            <p:nvPr/>
          </p:nvCxnSpPr>
          <p:spPr>
            <a:xfrm>
              <a:off x="4348117" y="3845464"/>
              <a:ext cx="240393" cy="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17" name="Google Shape;317;p29"/>
          <p:cNvGrpSpPr/>
          <p:nvPr/>
        </p:nvGrpSpPr>
        <p:grpSpPr>
          <a:xfrm>
            <a:off x="4320362" y="4281811"/>
            <a:ext cx="3881409" cy="330430"/>
            <a:chOff x="4094577" y="4356119"/>
            <a:chExt cx="3881409" cy="330430"/>
          </a:xfrm>
        </p:grpSpPr>
        <p:sp>
          <p:nvSpPr>
            <p:cNvPr id="318" name="Google Shape;318;p29"/>
            <p:cNvSpPr txBox="1"/>
            <p:nvPr/>
          </p:nvSpPr>
          <p:spPr>
            <a:xfrm>
              <a:off x="4094577" y="4378749"/>
              <a:ext cx="16281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" name="Google Shape;319;p29"/>
            <p:cNvSpPr txBox="1"/>
            <p:nvPr/>
          </p:nvSpPr>
          <p:spPr>
            <a:xfrm>
              <a:off x="6017886" y="4356119"/>
              <a:ext cx="19581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20" name="Google Shape;320;p2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g3adc535076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4494" y="1390425"/>
            <a:ext cx="3451500" cy="1009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g3adc535076a_0_0"/>
          <p:cNvSpPr txBox="1"/>
          <p:nvPr/>
        </p:nvSpPr>
        <p:spPr>
          <a:xfrm>
            <a:off x="108900" y="85725"/>
            <a:ext cx="11974200" cy="60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留言版</a:t>
            </a:r>
            <a:b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12/5 柯: 12/6-7 我應該會大修一下程式碼 &gt;&gt; 1206 已更新，暫時是最終版本了~ (github已更新)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12/6 湘: 擬定PPT架構、內容大致要說什麼，會陸續更新。(週二12/9午後考完一科再第二波大更新)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12/10 柯: 必不刪 MIS(含sampling from BSDF(Monte Carlo/lambert/phong); sampling  from light), BVH;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		optional可放:									(穿插在前面可當做講解參考圖).	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12/13 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湘: 亂玩嘗試中......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調整優化speedup的方法跟測效能（QQ）。需要些時間調整code實驗，盡量週日晚弄一版本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12/14 柯: 球的動向很酷 XD，辛苦你了！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我期末真的要死了。。。。。 </a:t>
            </a:r>
            <a:r>
              <a:rPr lang="en-US" sz="12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 </a:t>
            </a:r>
            <a:endParaRPr sz="12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我HW3用的是</a:t>
            </a:r>
            <a:r>
              <a:rPr lang="en-US" sz="1200">
                <a:solidFill>
                  <a:schemeClr val="dk1"/>
                </a:solidFill>
              </a:rPr>
              <a:t>#include &lt;chrono&gt; 可以計時，還不錯用</a:t>
            </a:r>
            <a:endParaRPr sz="1200">
              <a:solidFill>
                <a:schemeClr val="dk1"/>
              </a:solidFill>
            </a:endParaRPr>
          </a:p>
          <a:p>
            <a:pPr marL="1143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湘：主要是試過很多方法，總之最後心得：要拉開時間差異，增加物件、解析度(物理角度) &gt; 遠勝過什麼奇怪虛華的算法(俄羅斯輪盤那種畫面會損失變成不一樣的圖)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12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柯:恩，最後那張加速效果分析 圖很好看！</a:t>
            </a:r>
            <a:endParaRPr sz="1200"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湘：謝謝，快改完code了，code定版才能確定具體簡報內容 </a:t>
            </a:r>
            <a:r>
              <a:rPr lang="en-US" sz="12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OK</a:t>
            </a:r>
            <a:br>
              <a:rPr lang="en-US" sz="12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柯:我剛剛在看 P9 4.3 "BVH 節點的結構設計" 這個不知道會不會被老師問到，不知道要不要多準備一點資料?</a:t>
            </a:r>
            <a:endParaRPr sz="1200"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湘：如果有空閒時間就多瞭解是最好，期末專題我覺得偏向分享，輕鬆的。（我自己是會分享一些實作細節或老師說的踩坑經驗），技術部分能懂多深，就看時間了。 </a:t>
            </a:r>
            <a:r>
              <a:rPr lang="en-US" sz="12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OK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12/15 02:20 Code目前定了(？應該別鬧了），明天再戰報告內文。</a:t>
            </a:r>
            <a:r>
              <a:rPr lang="en-US" sz="12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辛苦你，我12/16有兩科期末我先去忙那個，有需要的話 隨時跟我說~</a:t>
            </a:r>
            <a:endParaRPr sz="1200"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_________________________________________________________________________________________________________________________________________</a:t>
            </a:r>
            <a:endParaRPr sz="1200"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12/15 10:15 目前定一版本，你看有沒有問題 and 可以直接補充上去～我12/16下午考完後可以再討論。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(1)p.7~10數學公式跟技術實作，你比較清楚，看你要不要講。其他主要看有沒有問題or可直接新增補充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&gt;&gt; 我可以喲! 你有打算怎麼分配簡報的"比重"嗎?</a:t>
            </a:r>
            <a:endParaRPr sz="1800"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(2) ps. 我看code，BVH底層還是有用AABB搭建(跟你說一下而已) </a:t>
            </a:r>
            <a:r>
              <a:rPr lang="en-US" sz="18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對，那個是拿來分"塊"用的</a:t>
            </a:r>
            <a:endParaRPr sz="1800"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(3) 我先傳moodle老師開的作業區（due：12/18 (Thu) 00:00）</a:t>
            </a:r>
            <a:r>
              <a:rPr lang="en-US" sz="18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OK (12/16 13:00)</a:t>
            </a:r>
            <a:endParaRPr sz="1800"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12/16 11:00 報告版，我的部分調整好了～晚安 加油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11:47 </a:t>
            </a:r>
            <a:r>
              <a:rPr lang="en-US" sz="18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收工收工，我的調整好了  晚安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第一PPT，www.1ppt.com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2863</Words>
  <Application>Microsoft Macintosh PowerPoint</Application>
  <PresentationFormat>Widescreen</PresentationFormat>
  <Paragraphs>364</Paragraphs>
  <Slides>21</Slides>
  <Notes>21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Roboto Mono</vt:lpstr>
      <vt:lpstr>Arial</vt:lpstr>
      <vt:lpstr>Times New Roman</vt:lpstr>
      <vt:lpstr>Calibri</vt:lpstr>
      <vt:lpstr>第一PPT，www.1ppt.com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优品PPT</dc:creator>
  <cp:lastModifiedBy>林湘婷</cp:lastModifiedBy>
  <cp:revision>1</cp:revision>
  <dcterms:created xsi:type="dcterms:W3CDTF">2020-05-29T10:50:01Z</dcterms:created>
  <dcterms:modified xsi:type="dcterms:W3CDTF">2025-12-17T03:12:30Z</dcterms:modified>
</cp:coreProperties>
</file>